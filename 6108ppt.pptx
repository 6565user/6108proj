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This session uses two labs to teach the Packet Tracer workflow: build, configure, verify, and explain.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expectations: this is a hands-on workflow, not a tour of every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sections: software basics, build/configure, the two labs, and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one: understand the workspace before touching a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evidence. Students should not say “it works” without a ping or show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actual Lab 1 window. Keep students in Realtime mode; they do not need Simulation for these two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two: the shared procedure used by both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Only five device types are needed. The “Used in” column prevents students from adding equipment the labs do not require.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practice students should use auto-connect. If a link is down, check cable and interface before changing IP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Keep the split clean. PC addressing is faster in Config; everything routed or switched is configured in CLI.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prompt to orient students. They should know how to move between modes before the router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this to Lab 1: the first failure is caused by a wrong mask/network, with no gateway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actual Router0 CLI from 2.pkt. Point to enable, show ip route, and the static route marked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establishes the verification language used in both labs: reply, timeout, unreachable, and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three: the two experiments. Each starts from its actual topology and uses CLI screenshots as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the two labs as a sequence. Lab 1 teaches local delivery; Lab 2 adds a gateway and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with the actual 1.pkt topology. The failure is intentional: it makes the subnet mask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real captures from 1.pkt. Ask students to compare loss, reply lines, and TTL.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first ping failed because PC1 was remote and PC0 had no gateway. The switch itself was doing its L2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actual 2.pkt topology. Point out the four subnets and the three-router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real screenshots of show ip route. The table summarises all four routes that must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actual ping capture. TTL 125 is strong evidence that the packet crossed three routers.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Section four: turn the two labs into a reusable troubleshooting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Only the symptoms that occur in Labs 1 and 2 are included. The first-ping timeout is real and was observed in 2.pkt.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a formative checklist. Students should tick items immediately after each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conceptual bridge: Lab 1 is local L2 delivery; Lab 2 is gateway plus L3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three habits: physical first, direct first, evidence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of session. Remind students to use the checklist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itle_b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3736" y="0"/>
            <a:ext cx="12691872" cy="71414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43C6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91440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777240"/>
            <a:ext cx="960120" cy="7315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024128"/>
            <a:ext cx="9966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Cisco Packet Tracer</a:t>
            </a:r>
            <a:endParaRPr sz="3800" b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2900" b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— From Software Basics to Two Network Labs</a:t>
            </a:r>
            <a:endParaRPr sz="2900" b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71600" y="5870448"/>
            <a:ext cx="9509760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2440" y="6035040"/>
            <a:ext cx="2788920" cy="548640"/>
          </a:xfrm>
          <a:prstGeom prst="roundRect">
            <a:avLst>
              <a:gd name="adj" fmla="val 30000"/>
            </a:avLst>
          </a:prstGeom>
          <a:solidFill>
            <a:srgbClr val="F5F8FB"/>
          </a:solidFill>
          <a:ln w="12700">
            <a:solidFill>
              <a:srgbClr val="DDE3EA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50" b="0">
                <a:solidFill>
                  <a:srgbClr val="333D4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EE6108 · LAB TEACHING</a:t>
            </a:r>
            <a:endParaRPr sz="1250" b="0">
              <a:solidFill>
                <a:srgbClr val="333D4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What You Will Be Able to Do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Two labs, one workflow: build → configure → verify → explain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440680" cy="941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2011680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81328" y="1911095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Build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10128" y="1901952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Place PCs, switches, and routers, choose the right cable, and complete the physical topology.</a:t>
            </a:r>
            <a:endParaRPr sz="10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843784"/>
            <a:ext cx="5440680" cy="941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" y="3072384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0723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81328" y="297180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Configure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10128" y="2962656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Set PC addresses and gateways, enable router interfaces, and add static routes.</a:t>
            </a:r>
            <a:endParaRPr sz="10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3904487"/>
            <a:ext cx="5440680" cy="9418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9536" y="4133087"/>
            <a:ext cx="475488" cy="475488"/>
          </a:xfrm>
          <a:prstGeom prst="roundRect">
            <a:avLst>
              <a:gd name="adj" fmla="val 15000"/>
            </a:avLst>
          </a:prstGeom>
          <a:solidFill>
            <a:srgbClr val="DCFCE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133087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81328" y="4032503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Verify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10128" y="4023359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ping, tracert, and show commands to prove what works and explain what does not.</a:t>
            </a:r>
            <a:endParaRPr sz="10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55080" y="1783080"/>
            <a:ext cx="5102352" cy="3822191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192024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Two labs</a:t>
            </a:r>
            <a:endParaRPr sz="15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65392" y="2231136"/>
            <a:ext cx="475488" cy="4572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432304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01</a:t>
            </a:r>
            <a:endParaRPr sz="10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5392" y="272491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 subnet vs. cross-subnet</a:t>
            </a:r>
            <a:endParaRPr sz="13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65392" y="3054096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IP / mask / gateway</a:t>
            </a:r>
            <a:endParaRPr sz="92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565392" y="3529584"/>
            <a:ext cx="4590288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758184"/>
            <a:ext cx="5669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02</a:t>
            </a:r>
            <a:endParaRPr sz="10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65392" y="405079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Static routing with 3 routers</a:t>
            </a:r>
            <a:endParaRPr sz="13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65392" y="4379976"/>
            <a:ext cx="4526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ip route / routing table</a:t>
            </a:r>
            <a:endParaRPr sz="92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65392" y="526694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Topology files: 1.pkt and 2.pkt</a:t>
            </a:r>
            <a:endParaRPr sz="88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31520" y="5779008"/>
            <a:ext cx="10725912" cy="475488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779008"/>
            <a:ext cx="50292" cy="47548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833872"/>
            <a:ext cx="103967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Goal: complete both labs independently and explain every result with evidence from the CLI.</a:t>
            </a:r>
            <a:endParaRPr sz="108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Contents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CONTENTS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50292" cy="6400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93392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22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64208" y="1975104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Get Started</a:t>
            </a:r>
            <a:endParaRPr sz="17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32120" y="2029967"/>
            <a:ext cx="5440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Interface layout and the role of Packet Tracer</a:t>
            </a:r>
            <a:endParaRPr sz="11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807208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44368"/>
            <a:ext cx="50292" cy="6400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17520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22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64208" y="299923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Build and Configure</a:t>
            </a:r>
            <a:endParaRPr sz="17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32120" y="3054096"/>
            <a:ext cx="5440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Devices, cables, Config/CLI, IP addressing</a:t>
            </a:r>
            <a:endParaRPr sz="11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3831336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68496"/>
            <a:ext cx="50292" cy="6400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41648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22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664208" y="4023360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Two Labs</a:t>
            </a:r>
            <a:endParaRPr sz="17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32120" y="4078224"/>
            <a:ext cx="5440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Same-subnet connectivity and three-router static routing</a:t>
            </a:r>
            <a:endParaRPr sz="11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855464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992624"/>
            <a:ext cx="50292" cy="6400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065776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22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64208" y="504748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Troubleshoot and Summary</a:t>
            </a:r>
            <a:endParaRPr sz="17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32120" y="5102352"/>
            <a:ext cx="54406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Symptoms, checklists, and the L2/L3 picture</a:t>
            </a:r>
            <a:endParaRPr sz="11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2331720"/>
            <a:ext cx="777240" cy="7315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517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20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09067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Get Started</a:t>
            </a:r>
            <a:endParaRPr sz="4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4440" y="4206240"/>
            <a:ext cx="4206240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What Is Packet Tracer?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 network simulation and teaching platform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01568" cy="3127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401568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55648" y="2084831"/>
            <a:ext cx="1353312" cy="62179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524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75104" y="2194560"/>
            <a:ext cx="896112" cy="3108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59152" y="2542032"/>
            <a:ext cx="118872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3127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Network simulation</a:t>
            </a:r>
            <a:endParaRPr sz="145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2688" y="338328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Drag devices, cable them, and configure them to mimic real forwarding behavior.</a:t>
            </a:r>
            <a:endParaRPr sz="10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4370832"/>
            <a:ext cx="3072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2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No hardware required</a:t>
            </a:r>
            <a:endParaRPr sz="92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3401568" cy="3127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3401568" cy="1280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94960" y="2084831"/>
            <a:ext cx="1353312" cy="621792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524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59552" y="2322576"/>
            <a:ext cx="109728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42432" y="2322576"/>
            <a:ext cx="109728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25312" y="2322576"/>
            <a:ext cx="109728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08192" y="2322576"/>
            <a:ext cx="109728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2322576"/>
            <a:ext cx="109728" cy="1828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2999232"/>
            <a:ext cx="3127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Two labs, one platform</a:t>
            </a:r>
            <a:endParaRPr sz="145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0" y="338328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LAN addressing and connectivity, then multi-router static routing.</a:t>
            </a:r>
            <a:endParaRPr sz="10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35424" y="4370832"/>
            <a:ext cx="3072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2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 workflow</a:t>
            </a:r>
            <a:endParaRPr sz="92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10144" y="1783080"/>
            <a:ext cx="3401568" cy="3127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1783080"/>
            <a:ext cx="3401568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34272" y="2084831"/>
            <a:ext cx="1353312" cy="621792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4272" y="2084831"/>
            <a:ext cx="135331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✓</a:t>
            </a:r>
            <a:endParaRPr sz="260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47304" y="2999232"/>
            <a:ext cx="31272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Evidence, not animation</a:t>
            </a:r>
            <a:endParaRPr sz="145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11312" y="3383280"/>
            <a:ext cx="2999232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ping and show output as evidence; the CLI result is what counts.</a:t>
            </a:r>
            <a:endParaRPr sz="10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74736" y="4370832"/>
            <a:ext cx="3072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2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CLI first</a:t>
            </a:r>
            <a:endParaRPr sz="92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1520" y="5175504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2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Packet Tracer is Cisco’s official network simulation tool. </a:t>
            </a:r>
            <a:r>
              <a:rPr sz="122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 this lesson it is used for one purpose: turning the lab manual topologies into configurable, testable networks.</a:t>
            </a:r>
            <a:endParaRPr sz="122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8000"/>
              </a:lnSpc>
              <a:spcAft>
                <a:spcPts val="500"/>
              </a:spcAft>
            </a:pPr>
            <a:r>
              <a:rPr sz="122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Working rule: </a:t>
            </a:r>
            <a:r>
              <a:rPr sz="122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topology matches the manual, addresses match the table, and conclusions match the CLI output.</a:t>
            </a:r>
            <a:endParaRPr sz="122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Interface Overview: Five Areas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Know where to choose devices, where to cable, and where to read status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6903720" cy="43159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ui_lab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864" y="1810512"/>
            <a:ext cx="6635031" cy="39136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751575"/>
            <a:ext cx="6720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Actual window: Lab 1 topology in 1.pkt.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845552" y="1764792"/>
            <a:ext cx="35935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45552" y="1764792"/>
            <a:ext cx="50292" cy="7498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1837943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110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47888" y="1828800"/>
            <a:ext cx="3090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9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Top: menu bar + main toolbar</a:t>
            </a:r>
            <a:endParaRPr sz="99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47888" y="2057400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File / Edit / Options / View / Tools; new, save, zoom, inspect, delete.</a:t>
            </a:r>
            <a:endParaRPr sz="80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845552" y="2596896"/>
            <a:ext cx="35935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45552" y="2596896"/>
            <a:ext cx="50292" cy="7498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73568" y="2670048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endParaRPr sz="11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47888" y="2660903"/>
            <a:ext cx="3090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9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Center: workspace</a:t>
            </a:r>
            <a:endParaRPr sz="99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47888" y="2889503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Drop devices, draw cables, add text notes; the topology lives here.</a:t>
            </a:r>
            <a:endParaRPr sz="80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845552" y="3429000"/>
            <a:ext cx="35935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45552" y="3429000"/>
            <a:ext cx="50292" cy="74980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3502152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C55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endParaRPr sz="1100" b="1">
              <a:solidFill>
                <a:srgbClr val="22C55E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47888" y="3493008"/>
            <a:ext cx="3090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9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Lower left: device palette</a:t>
            </a:r>
            <a:endParaRPr sz="99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47888" y="3721608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Choose PCs, switches, routers, and cables by category.</a:t>
            </a:r>
            <a:endParaRPr sz="80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845552" y="4261104"/>
            <a:ext cx="35935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45552" y="4261104"/>
            <a:ext cx="50292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73568" y="4334256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</a:t>
            </a:r>
            <a:endParaRPr sz="110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47888" y="4325112"/>
            <a:ext cx="3090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9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Lower right: Realtime / Simulation</a:t>
            </a:r>
            <a:endParaRPr sz="99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47888" y="4553712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Keep Realtime for these labs; the clock shows elapsed time.</a:t>
            </a:r>
            <a:endParaRPr sz="80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845552" y="5093208"/>
            <a:ext cx="3593592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45552" y="5093208"/>
            <a:ext cx="50292" cy="7498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8" y="5166360"/>
            <a:ext cx="274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</a:t>
            </a:r>
            <a:endParaRPr sz="1100" b="1">
              <a:solidFill>
                <a:srgbClr val="6366F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47888" y="5157216"/>
            <a:ext cx="30906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9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Bottom: Scenario / Event List</a:t>
            </a:r>
            <a:endParaRPr sz="99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47888" y="5385816"/>
            <a:ext cx="309067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Records events and PDUs; observation only in this lesson.</a:t>
            </a:r>
            <a:endParaRPr sz="80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2331720"/>
            <a:ext cx="777240" cy="7315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517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20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09067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Build and Configure</a:t>
            </a:r>
            <a:endParaRPr sz="4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4440" y="4206240"/>
            <a:ext cx="4206240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Step 1: Add Devices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Drag from the device palette into the workspace; core devices first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55648"/>
          <a:ext cx="10725910" cy="3273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9144"/>
                <a:gridCol w="2453011"/>
                <a:gridCol w="5338906"/>
                <a:gridCol w="1394849"/>
              </a:tblGrid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Category</a:t>
                      </a:r>
                      <a:endParaRPr sz="11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Device / model</a:t>
                      </a:r>
                      <a:endParaRPr sz="11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Role in these labs</a:t>
                      </a:r>
                      <a:endParaRPr sz="11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Used in</a:t>
                      </a:r>
                      <a:endParaRPr sz="11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End devices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PC-PT</a:t>
                      </a:r>
                      <a:endParaRPr sz="10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Configure IP / mask / gateway; run ping tests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Lab 1, 2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Switches</a:t>
                      </a:r>
                      <a:endParaRPr sz="10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2960-24TT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Layer 2 forwarding inside the LAN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Lab 1, 2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Routers</a:t>
                      </a:r>
                      <a:endParaRPr sz="10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Router-PT (2911)</a:t>
                      </a:r>
                      <a:endParaRPr sz="10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Layer 3 forwarding and static routes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Lab 2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Cables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Automatically Choose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Automatically selects the correct cable type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Lab 1, 2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Cables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Copper Straight-Through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PC ↔ switch when a manual choice is required</a:t>
                      </a:r>
                      <a:endParaRPr sz="10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Lab 1, 2</a:t>
                      </a:r>
                      <a:endParaRPr sz="10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715000"/>
            <a:ext cx="10725912" cy="438912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715000"/>
            <a:ext cx="50292" cy="43891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769864"/>
            <a:ext cx="1039672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Place switches and routers first, then the PCs; leave room for network labels.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Step 2: Choose the Right Cable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 wrong cable is one of the most common reasons a link stays down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9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401568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3401568" cy="12801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5568" y="2103120"/>
            <a:ext cx="310896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47088" y="2212848"/>
            <a:ext cx="1143000" cy="5486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38144" y="2103120"/>
            <a:ext cx="310896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42032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Auto-connect (recommended)</a:t>
            </a:r>
            <a:endParaRPr sz="1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42416" y="3035808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Orange lightning icon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42416" y="3383279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Chooses by port type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42416" y="373075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Used in both labs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42416" y="4078224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No pinout decision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370832" y="1783080"/>
            <a:ext cx="3401568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1783080"/>
            <a:ext cx="3401568" cy="12801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2103120"/>
            <a:ext cx="310896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0" y="2212848"/>
            <a:ext cx="114300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77456" y="2103120"/>
            <a:ext cx="310896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542032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Straight-through</a:t>
            </a:r>
            <a:endParaRPr sz="1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81728" y="3035808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PC ↔ switch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81728" y="3383279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Same pinout both ends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81728" y="373075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Most common LAN cable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81728" y="4078224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Different device classes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10144" y="1783080"/>
            <a:ext cx="3401568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1783080"/>
            <a:ext cx="3401568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94192" y="2103120"/>
            <a:ext cx="3108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25712" y="2212848"/>
            <a:ext cx="11430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716767" y="2103120"/>
            <a:ext cx="3108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1312" y="2542032"/>
            <a:ext cx="299923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Crossover</a:t>
            </a:r>
            <a:endParaRPr sz="1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21040" y="3035808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Switch ↔ switch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21040" y="3383279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Router ↔ router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21040" y="3730752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2960 supports Auto-MDIX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21040" y="4078224"/>
            <a:ext cx="27797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Same device classes</a:t>
            </a:r>
            <a:endParaRPr sz="9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31520" y="5074920"/>
            <a:ext cx="10725912" cy="841248"/>
          </a:xfrm>
          <a:prstGeom prst="roundRect">
            <a:avLst>
              <a:gd name="adj" fmla="val 7000"/>
            </a:avLst>
          </a:prstGeom>
          <a:solidFill>
            <a:srgbClr val="ECF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074920"/>
            <a:ext cx="50292" cy="84124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157216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Course convention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4400" y="5367528"/>
            <a:ext cx="1039672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Both labs use Automatically Choose Connection Type. Only override it when the task explicitly asks for a cable type.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Two Ways In: Config and CLI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GUI is easier for PCs; the CLI is closer to real equipment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10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21208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6537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Config tab</a:t>
            </a:r>
            <a:endParaRPr sz="1500" b="1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36592" y="1865376"/>
            <a:ext cx="1042415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78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For PCs</a:t>
            </a:r>
            <a:endParaRPr sz="78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50976" y="2505456"/>
            <a:ext cx="68580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432304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Double-click the PC → Config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50976" y="3035808"/>
            <a:ext cx="68580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2962656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Set IP, mask, default gateway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50976" y="3566160"/>
            <a:ext cx="68580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3493008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Graphical and immediate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50976" y="4096512"/>
            <a:ext cx="68580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023360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Limited for advanced router features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50976" y="4626864"/>
            <a:ext cx="68580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55371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for: all PC addresses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45352" y="1783080"/>
            <a:ext cx="521208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1783080"/>
            <a:ext cx="521208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86537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CLI</a:t>
            </a:r>
            <a:endParaRPr sz="1500" b="1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250424" y="1865376"/>
            <a:ext cx="1042415" cy="256032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78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For network devices</a:t>
            </a:r>
            <a:endParaRPr sz="78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64808" y="2505456"/>
            <a:ext cx="68580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2432304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Double-click the device → CLI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64808" y="3035808"/>
            <a:ext cx="68580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2962656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Interfaces, static routes, verification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464808" y="3566160"/>
            <a:ext cx="68580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7688" y="3493008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Matches Cisco IOS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64808" y="4096512"/>
            <a:ext cx="68580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7688" y="4023360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Start with enable, then configure terminal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64808" y="4626864"/>
            <a:ext cx="68580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47688" y="4553712"/>
            <a:ext cx="452628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for: routers and switches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731520" y="5687568"/>
            <a:ext cx="10725912" cy="475488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87568"/>
            <a:ext cx="50292" cy="47548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742431"/>
            <a:ext cx="103967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Course convention: PC settings in Config; router and switch settings in CLI.</a:t>
            </a:r>
            <a:endParaRPr sz="108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IOS Command Modes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prompt tells you which commands are available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11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52374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38528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3852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3B82F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&gt;</a:t>
            </a:r>
            <a:endParaRPr sz="1100" b="1">
              <a:solidFill>
                <a:srgbClr val="3B82F6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61518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User EXEC</a:t>
            </a:r>
            <a:endParaRPr sz="13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6112" y="2944368"/>
            <a:ext cx="2176272" cy="32918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944368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A7F3D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Router&gt;</a:t>
            </a:r>
            <a:endParaRPr sz="840" b="0">
              <a:solidFill>
                <a:srgbClr val="A7F3D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3401568"/>
            <a:ext cx="217627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View basic information; no configuration changes.</a:t>
            </a:r>
            <a:endParaRPr sz="9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6112" y="4279392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Enter: enable</a:t>
            </a:r>
            <a:endParaRPr sz="84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456432" y="1783080"/>
            <a:ext cx="252374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21024" y="1938528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D1FAE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193852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D9488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#</a:t>
            </a:r>
            <a:endParaRPr sz="1100" b="1">
              <a:solidFill>
                <a:srgbClr val="0D9488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21024" y="261518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Privileged EXEC</a:t>
            </a:r>
            <a:endParaRPr sz="13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21024" y="2944368"/>
            <a:ext cx="2176272" cy="32918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2464" y="2944368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A7F3D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Router#</a:t>
            </a:r>
            <a:endParaRPr sz="840" b="0">
              <a:solidFill>
                <a:srgbClr val="A7F3D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21024" y="3401568"/>
            <a:ext cx="217627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show, save, debug; enter global configuration.</a:t>
            </a:r>
            <a:endParaRPr sz="9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21024" y="4279392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Enter: configure terminal</a:t>
            </a:r>
            <a:endParaRPr sz="84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81344" y="1783080"/>
            <a:ext cx="252374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45936" y="1938528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5936" y="193852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cfg</a:t>
            </a:r>
            <a:endParaRPr sz="1100" b="1">
              <a:solidFill>
                <a:srgbClr val="F59E0B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45936" y="261518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Global config</a:t>
            </a:r>
            <a:endParaRPr sz="13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345936" y="2944368"/>
            <a:ext cx="2176272" cy="32918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2944368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A7F3D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Router(config)#</a:t>
            </a:r>
            <a:endParaRPr sz="840" b="0">
              <a:solidFill>
                <a:srgbClr val="A7F3D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45936" y="3401568"/>
            <a:ext cx="217627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Hostname, static routes, and global settings.</a:t>
            </a:r>
            <a:endParaRPr sz="9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45936" y="4279392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Enter: interface g0/0</a:t>
            </a:r>
            <a:endParaRPr sz="84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906256" y="1783080"/>
            <a:ext cx="2523744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70848" y="1938528"/>
            <a:ext cx="530352" cy="530352"/>
          </a:xfrm>
          <a:prstGeom prst="roundRect">
            <a:avLst>
              <a:gd name="adj" fmla="val 14000"/>
            </a:avLst>
          </a:prstGeom>
          <a:solidFill>
            <a:srgbClr val="E0E7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0848" y="193852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6366F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if</a:t>
            </a:r>
            <a:endParaRPr sz="1100" b="1">
              <a:solidFill>
                <a:srgbClr val="6366F1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070848" y="261518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Interface config</a:t>
            </a:r>
            <a:endParaRPr sz="13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070848" y="2944368"/>
            <a:ext cx="2176272" cy="32918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2944368"/>
            <a:ext cx="19933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A7F3D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Router(config-if)#</a:t>
            </a:r>
            <a:endParaRPr sz="840" b="0">
              <a:solidFill>
                <a:srgbClr val="A7F3D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70848" y="3401568"/>
            <a:ext cx="2176272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IP address, no shutdown, interface settings.</a:t>
            </a:r>
            <a:endParaRPr sz="92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070848" y="4279392"/>
            <a:ext cx="217627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1">
                <a:solidFill>
                  <a:srgbClr val="6366F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Enter: exit / end</a:t>
            </a:r>
            <a:endParaRPr sz="840" b="1">
              <a:solidFill>
                <a:srgbClr val="6366F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31520" y="5285232"/>
            <a:ext cx="10725912" cy="50292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" y="5340096"/>
            <a:ext cx="1045159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40" b="0">
                <a:solidFill>
                  <a:srgbClr val="A7F3D0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Router&gt; enable  →  Router# configure terminal  →  Router(config)# interface g0/0  →  Router(config-if)# ip address …</a:t>
            </a:r>
            <a:endParaRPr sz="840" b="0">
              <a:solidFill>
                <a:srgbClr val="A7F3D0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31520" y="5907024"/>
            <a:ext cx="10725912" cy="256032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5907024"/>
            <a:ext cx="50292" cy="25603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961888"/>
            <a:ext cx="1039672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If the prompt is wrong, the command will be wrong.</a:t>
            </a:r>
            <a:endParaRPr sz="98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Configure a PC: Config → FastEthernet0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Address, mask, and gateway decide where the packet goes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12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650992" cy="39502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5650992" cy="384048"/>
          </a:xfrm>
          <a:prstGeom prst="rect">
            <a:avLst/>
          </a:prstGeom>
          <a:solidFill>
            <a:srgbClr val="143C6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19656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</a:t>
            </a:r>
            <a:endParaRPr sz="1200" b="1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0" y="1819656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40" b="0">
                <a:solidFill>
                  <a:srgbClr val="CBD5E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IP Configuration</a:t>
            </a:r>
            <a:endParaRPr sz="940" b="0">
              <a:solidFill>
                <a:srgbClr val="CBD5E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1520" y="2139696"/>
            <a:ext cx="1115568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DDE3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Physical</a:t>
            </a:r>
            <a:endParaRPr sz="78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847088" y="2139696"/>
            <a:ext cx="11155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47088" y="219456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1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Config</a:t>
            </a:r>
            <a:endParaRPr sz="780" b="1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962656" y="2139696"/>
            <a:ext cx="1115568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DDE3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2656" y="219456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Desktop</a:t>
            </a:r>
            <a:endParaRPr sz="78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078224" y="2139696"/>
            <a:ext cx="1115568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DDE3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8224" y="219456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Programming</a:t>
            </a:r>
            <a:endParaRPr sz="78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93792" y="2139696"/>
            <a:ext cx="1115568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DDE3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219456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8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Attributes</a:t>
            </a:r>
            <a:endParaRPr sz="78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96112" y="2651760"/>
            <a:ext cx="128016" cy="128016"/>
          </a:xfrm>
          <a:prstGeom prst="ellipse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259689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Static</a:t>
            </a:r>
            <a:endParaRPr sz="90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700784" y="265176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83664" y="2596896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DHCP</a:t>
            </a:r>
            <a:endParaRPr sz="90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6112" y="3127248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IPv4 Address</a:t>
            </a:r>
            <a:endParaRPr sz="84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359152" y="3072384"/>
            <a:ext cx="3749039" cy="3474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8C4D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3136391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192.168.1.1</a:t>
            </a:r>
            <a:endParaRPr sz="9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6112" y="36941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Subnet Mask</a:t>
            </a:r>
            <a:endParaRPr sz="84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359152" y="3639312"/>
            <a:ext cx="3749039" cy="3474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8C4D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3703320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255.255.255.0</a:t>
            </a:r>
            <a:endParaRPr sz="9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96112" y="4261103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Default Gateway</a:t>
            </a:r>
            <a:endParaRPr sz="84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2359152" y="4206240"/>
            <a:ext cx="3749039" cy="3474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8C4D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4270248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192.168.1.254</a:t>
            </a:r>
            <a:endParaRPr sz="9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96112" y="4828031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64748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DNS Server</a:t>
            </a:r>
            <a:endParaRPr sz="840" b="0">
              <a:solidFill>
                <a:srgbClr val="64748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2359152" y="4773168"/>
            <a:ext cx="3749039" cy="3474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B8C4D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0" y="4837176"/>
            <a:ext cx="352958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(optional; not used here)</a:t>
            </a:r>
            <a:endParaRPr sz="9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96112" y="5431536"/>
            <a:ext cx="5257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Press Enter or click away; verify with ipconfig.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720840" y="1783080"/>
            <a:ext cx="473659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20840" y="1783080"/>
            <a:ext cx="50292" cy="11155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1892807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 subnet</a:t>
            </a:r>
            <a:endParaRPr sz="108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903720" y="2176272"/>
            <a:ext cx="43525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gateway may be left blank. In Lab 1, both PCs use the same /24.</a:t>
            </a:r>
            <a:endParaRPr sz="9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720840" y="3081528"/>
            <a:ext cx="473659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720840" y="3081528"/>
            <a:ext cx="50292" cy="111556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3191256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Different subnet</a:t>
            </a:r>
            <a:endParaRPr sz="108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903720" y="3474720"/>
            <a:ext cx="43525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default gateway is required. In Lab 2, the PC hands remote packets to the router.</a:t>
            </a:r>
            <a:endParaRPr sz="9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720840" y="4379976"/>
            <a:ext cx="4736592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20840" y="4379976"/>
            <a:ext cx="50292" cy="11155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03720" y="4489704"/>
            <a:ext cx="1600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8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Check yourself first</a:t>
            </a:r>
            <a:endParaRPr sz="108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903720" y="4773168"/>
            <a:ext cx="43525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One wrong address, mask, or gateway breaks ping; run ipconfig before blaming the network.</a:t>
            </a:r>
            <a:endParaRPr sz="9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31520" y="5870448"/>
            <a:ext cx="10725912" cy="310896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5870448"/>
            <a:ext cx="50292" cy="310896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925312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2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Mask answers “is the destination local?” The gateway answers “how does it leave?”</a:t>
            </a:r>
            <a:endParaRPr sz="102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Router Interfaces: Assign, Enable, Verify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Router interfaces are administratively down until no shutdown is entered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13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6720840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r0_route_cmd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9132"/>
            <a:ext cx="6537959" cy="29260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522976"/>
            <a:ext cx="653795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Actual CLI from 2.pkt — Router0 after interface and static-route configuration.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35240" y="1755648"/>
            <a:ext cx="3822191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755648"/>
            <a:ext cx="50292" cy="113385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1856231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Default state: down</a:t>
            </a:r>
            <a:endParaRPr sz="106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90688" y="2139696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9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 router interface starts in shutdown; enter no shutdown under the interface.</a:t>
            </a:r>
            <a:endParaRPr sz="89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635240" y="3072384"/>
            <a:ext cx="3822191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3072384"/>
            <a:ext cx="50292" cy="113385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90688" y="317296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Address must match</a:t>
            </a:r>
            <a:endParaRPr sz="106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90688" y="3456432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9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interface IP and mask must belong to the connected subnet; LAN gateways use .254 here.</a:t>
            </a:r>
            <a:endParaRPr sz="89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635240" y="4389120"/>
            <a:ext cx="3822191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35240" y="4389120"/>
            <a:ext cx="50292" cy="11338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4489704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6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Verify up/up</a:t>
            </a:r>
            <a:endParaRPr sz="106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90688" y="4773168"/>
            <a:ext cx="34747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9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show ip interface brief and show ip route to confirm both state and reachability.</a:t>
            </a:r>
            <a:endParaRPr sz="89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5916168"/>
            <a:ext cx="10725912" cy="301752"/>
          </a:xfrm>
          <a:prstGeom prst="roundRect">
            <a:avLst>
              <a:gd name="adj" fmla="val 7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916168"/>
            <a:ext cx="50292" cy="3017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971031"/>
            <a:ext cx="10396728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2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 red link is not always a wrong IP: check no shutdown first, then the address and mask.</a:t>
            </a:r>
            <a:endParaRPr sz="102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Before Lab 1: Build an Evidence Chain with ping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the same order every time; do not start by pinging the far end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14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07492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50292" cy="85953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47088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61872" y="1828800"/>
            <a:ext cx="4343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 subnet: ping the peer</a:t>
            </a:r>
            <a:endParaRPr sz="10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61872" y="2084831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Proves the link, mask, and Layer 2 forwarding are correct.</a:t>
            </a:r>
            <a:endParaRPr sz="8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706624"/>
            <a:ext cx="507492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06624"/>
            <a:ext cx="50292" cy="85953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79806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61872" y="2779776"/>
            <a:ext cx="4343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Different subnet: ping the gateway first</a:t>
            </a:r>
            <a:endParaRPr sz="10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61872" y="3035808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If the gateway replies but the far end does not, look at routing.</a:t>
            </a:r>
            <a:endParaRPr sz="8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507492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50292" cy="85953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749039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366F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050" b="1">
              <a:solidFill>
                <a:srgbClr val="6366F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61872" y="3730752"/>
            <a:ext cx="4343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Still failing: run tracert</a:t>
            </a:r>
            <a:endParaRPr sz="10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61872" y="3986784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first timed-out hop shows where forwarding stops.</a:t>
            </a:r>
            <a:endParaRPr sz="8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608576"/>
            <a:ext cx="5074920" cy="8595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608576"/>
            <a:ext cx="50292" cy="8595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700016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05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61872" y="4681728"/>
            <a:ext cx="4343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Record the result</a:t>
            </a:r>
            <a:endParaRPr sz="10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61872" y="493776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Reply / timeout / unreachable, plus loss, becomes your evidence.</a:t>
            </a:r>
            <a:endParaRPr sz="8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89320" y="1755648"/>
            <a:ext cx="5468112" cy="2148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8" name="Picture 27" descr="lab1_fail_cmd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3" y="2117307"/>
            <a:ext cx="5358384" cy="116948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80759" y="3602735"/>
            <a:ext cx="528523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Actual CLI from 1.pkt: four timeouts, 100% loss.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989320" y="4041648"/>
            <a:ext cx="5468112" cy="841248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89320" y="4041648"/>
            <a:ext cx="50292" cy="84124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4123944"/>
            <a:ext cx="51389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Read the output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72200" y="4334256"/>
            <a:ext cx="513892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command is correct; the address plan is not. Four sent, zero received: PC0 has no way to reach 192.168.2.1.</a:t>
            </a:r>
            <a:endParaRPr sz="95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31520" y="5614416"/>
            <a:ext cx="3401568" cy="566928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6928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1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Reply from …</a:t>
            </a:r>
            <a:endParaRPr sz="780" b="1">
              <a:solidFill>
                <a:srgbClr val="22C55E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1248" y="5870448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Link and configuration are basically correct</a:t>
            </a:r>
            <a:endParaRPr sz="7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370832" y="5614416"/>
            <a:ext cx="3401568" cy="566928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566928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1">
                <a:solidFill>
                  <a:srgbClr val="F59E0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Request timed out</a:t>
            </a:r>
            <a:endParaRPr sz="780" b="1">
              <a:solidFill>
                <a:srgbClr val="F59E0B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80560" y="5870448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No reply: routing, gateway, or physical link</a:t>
            </a:r>
            <a:endParaRPr sz="7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8010144" y="5614416"/>
            <a:ext cx="3401568" cy="566928"/>
          </a:xfrm>
          <a:prstGeom prst="roundRect">
            <a:avLst>
              <a:gd name="adj" fmla="val 5000"/>
            </a:avLst>
          </a:prstGeom>
          <a:solidFill>
            <a:srgbClr val="FFE4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9871" y="5669280"/>
            <a:ext cx="1783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0" b="1">
                <a:solidFill>
                  <a:srgbClr val="DC262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Host unreachable</a:t>
            </a:r>
            <a:endParaRPr sz="780" b="1">
              <a:solidFill>
                <a:srgbClr val="DC2626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119871" y="5870448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Cannot deliver locally: gateway / ARP / subnet</a:t>
            </a:r>
            <a:endParaRPr sz="7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2331720"/>
            <a:ext cx="777240" cy="7315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517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20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09067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Two Labs</a:t>
            </a:r>
            <a:endParaRPr sz="4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4440" y="4206240"/>
            <a:ext cx="4206240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Two Labs: From Local Switching to Static Routing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Each lab adds one capability; Lab 1 is the foundation for Lab 2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16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55648"/>
          <a:ext cx="10725910" cy="24505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19"/>
                <a:gridCol w="2926079"/>
                <a:gridCol w="2697480"/>
                <a:gridCol w="2770632"/>
              </a:tblGrid>
              <a:tr h="43891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Lab</a:t>
                      </a:r>
                      <a:endParaRPr sz="10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Topology</a:t>
                      </a:r>
                      <a:endParaRPr sz="10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Core skill</a:t>
                      </a:r>
                      <a:endParaRPr sz="10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Success criterion</a:t>
                      </a:r>
                      <a:endParaRPr sz="10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01  LAN addressing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1 switch + 2 PCs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IP / mask, same-subnet test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After correcting PC1, ping succeeds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02  Static routing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3 routers + 2 switches + 2 PCs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Default gateway, ip route</a:t>
                      </a:r>
                      <a:endParaRPr sz="105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105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PC0 reaches PC1 with 0% loss</a:t>
                      </a:r>
                      <a:endParaRPr sz="105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754880"/>
            <a:ext cx="10725912" cy="822960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50292" cy="82296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37176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One method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047488"/>
            <a:ext cx="1039672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Shared workflow: build → assign addresses → configure forwarding → ping → explain the result. The commands change; the method does not.</a:t>
            </a:r>
            <a:endParaRPr sz="10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1: Same Subnet vs. Cross-Subnet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01 · one 2960 switch + two PCs; create a failure, then correct it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17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6702552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lab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078" y="1865376"/>
            <a:ext cx="5143434" cy="35935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522976"/>
            <a:ext cx="65196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Original topology: 1.pkt (PC0 / PC1 / 2960-24TT)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62672" y="1755648"/>
            <a:ext cx="37947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62672" y="1755648"/>
            <a:ext cx="50292" cy="141732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8470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goal</a:t>
            </a:r>
            <a:endParaRPr sz="102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8120" y="2121408"/>
            <a:ext cx="3511296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Cable PC–switch–PC
· Ping across subnets and fail
· Correct PC1 and succeed</a:t>
            </a:r>
            <a:endParaRPr sz="90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662672" y="3310128"/>
          <a:ext cx="3794757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19"/>
                <a:gridCol w="1417319"/>
                <a:gridCol w="1417319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Device</a:t>
                      </a:r>
                      <a:endParaRPr sz="8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Initial IP</a:t>
                      </a:r>
                      <a:endParaRPr sz="8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Corrected</a:t>
                      </a:r>
                      <a:endParaRPr sz="88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PC0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192.168.1.1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192.168.1.1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PC1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192.168.2.1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192.168.1.2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Switch0</a:t>
                      </a:r>
                      <a:endParaRPr sz="86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—</a:t>
                      </a:r>
                      <a:endParaRPr sz="86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6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Layer 2</a:t>
                      </a:r>
                      <a:endParaRPr sz="86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662672" y="5047488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Mask 255.255.255.0; gateway left blank.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5925312"/>
            <a:ext cx="10725912" cy="329184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925312"/>
            <a:ext cx="50292" cy="329184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980176"/>
            <a:ext cx="10396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Task: PC0 pings 192.168.2.1 (fail) → change PC1 to 192.168.1.2 → ping again (success).</a:t>
            </a:r>
            <a:endParaRPr sz="100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1 Procedure: Fail, Correct, Verify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screenshots below are the real CLI output from 1.pkt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18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8064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2039112"/>
            <a:ext cx="365760" cy="36576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391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16736" y="1865376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Place and cable</a:t>
            </a:r>
            <a:endParaRPr sz="118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16736" y="2121408"/>
            <a:ext cx="5074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× PC-PT and 1 × 2960-24TT; PC0 to Fa0/1, PC1 to Fa0/2.</a:t>
            </a:r>
            <a:endParaRPr sz="8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2798064"/>
            <a:ext cx="58064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081528"/>
            <a:ext cx="365760" cy="36576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0815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16736" y="2907792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Set the initial addresses</a:t>
            </a:r>
            <a:endParaRPr sz="118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16736" y="3163824"/>
            <a:ext cx="5074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PC0 192.168.1.1/24; PC1 192.168.2.1/24; leave the gateway blank.</a:t>
            </a:r>
            <a:endParaRPr sz="8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58064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4123944"/>
            <a:ext cx="365760" cy="36576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12394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16736" y="3950208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Test the failure</a:t>
            </a:r>
            <a:endParaRPr sz="118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16736" y="4206240"/>
            <a:ext cx="5074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From PC0, ping 192.168.2.1; expect four timeouts.</a:t>
            </a:r>
            <a:endParaRPr sz="8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882896"/>
            <a:ext cx="5806440" cy="9326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166359"/>
            <a:ext cx="365760" cy="365760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16635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</a:t>
            </a:r>
            <a:endParaRPr sz="120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16736" y="4992624"/>
            <a:ext cx="5074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80" b="1">
                <a:solidFill>
                  <a:srgbClr val="102A4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Correct PC1 and retest</a:t>
            </a:r>
            <a:endParaRPr sz="1180" b="1">
              <a:solidFill>
                <a:srgbClr val="102A4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16736" y="5248656"/>
            <a:ext cx="507492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Set PC1 to 192.168.1.2/24; ping 192.168.1.2; expect 0% loss.</a:t>
            </a:r>
            <a:endParaRPr sz="88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720840" y="1755648"/>
            <a:ext cx="4736592" cy="1417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8" name="Picture 27" descr="lab1_fail_cmd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704" y="1831376"/>
            <a:ext cx="4626864" cy="100983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12279" y="2871215"/>
            <a:ext cx="4553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→ 192.168.2.1: 100% loss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720840" y="3291840"/>
            <a:ext cx="4736592" cy="1691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lab1_ping_ok_cm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5704" y="3378499"/>
            <a:ext cx="4626864" cy="126228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12279" y="4681728"/>
            <a:ext cx="45537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→ 192.168.1.2: 0% loss, TTL=128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720840" y="5138928"/>
            <a:ext cx="4736592" cy="640080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20840" y="5138928"/>
            <a:ext cx="50292" cy="64008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5221224"/>
            <a:ext cx="440740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Compare the two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03720" y="5431536"/>
            <a:ext cx="4407407" cy="2926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only change between the two screenshots is PC1’s IP address.</a:t>
            </a:r>
            <a:endParaRPr sz="9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1: Why Did the First Ping Fail?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switch was fine; the two hosts had different network IDs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19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2926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2926080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</a:t>
            </a:r>
            <a:endParaRPr sz="110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192.168.1.1/24</a:t>
            </a:r>
            <a:endParaRPr sz="10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6112" y="260604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Network 192.168.1.0</a:t>
            </a:r>
            <a:endParaRPr sz="880" b="0">
              <a:solidFill>
                <a:srgbClr val="64748B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14600" y="1920240"/>
            <a:ext cx="960120" cy="237744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≠</a:t>
            </a:r>
            <a:endParaRPr sz="100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977639" y="1755648"/>
            <a:ext cx="2926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9" y="1755648"/>
            <a:ext cx="2926080" cy="731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2231" y="192024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PC1</a:t>
            </a:r>
            <a:endParaRPr sz="1100" b="1">
              <a:solidFill>
                <a:srgbClr val="DC262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42231" y="221284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0">
                <a:solidFill>
                  <a:srgbClr val="102A4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192.168.2.1/24</a:t>
            </a:r>
            <a:endParaRPr sz="1020" b="0">
              <a:solidFill>
                <a:srgbClr val="102A43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42231" y="260604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>
                <a:solidFill>
                  <a:srgbClr val="64748B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rPr>
              <a:t>Network 192.168.2.0</a:t>
            </a:r>
            <a:endParaRPr sz="880" b="0">
              <a:solidFill>
                <a:srgbClr val="64748B"/>
              </a:solidFill>
              <a:latin typeface="Consolas" panose="020B0609020204030204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760720" y="1920240"/>
            <a:ext cx="960120" cy="237744"/>
          </a:xfrm>
          <a:prstGeom prst="roundRect">
            <a:avLst>
              <a:gd name="adj" fmla="val 30000"/>
            </a:avLst>
          </a:prstGeom>
          <a:solidFill>
            <a:srgbClr val="FFE4E6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000" b="1">
                <a:solidFill>
                  <a:srgbClr val="DC262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≠</a:t>
            </a:r>
            <a:endParaRPr sz="1000" b="1">
              <a:solidFill>
                <a:srgbClr val="DC262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931152" y="1755648"/>
            <a:ext cx="45262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31152" y="1755648"/>
            <a:ext cx="5029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90195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1">
                <a:solidFill>
                  <a:srgbClr val="DC262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No gateway → packet cannot leave</a:t>
            </a:r>
            <a:endParaRPr sz="1020" b="1">
              <a:solidFill>
                <a:srgbClr val="DC262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86600" y="2212848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9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treats PC1 as remote. With no default gateway, it cannot hand the packet to a router, so it is dropped locally.</a:t>
            </a:r>
            <a:endParaRPr sz="89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1520" y="3493008"/>
            <a:ext cx="340156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6112" y="363931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6393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100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71600" y="365760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Network ID</a:t>
            </a:r>
            <a:endParaRPr sz="102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71600" y="3950208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IP AND mask. With /24, the first three octets must match.</a:t>
            </a:r>
            <a:endParaRPr sz="8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370832" y="3493008"/>
            <a:ext cx="340156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35424" y="363931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36393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endParaRPr sz="100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10912" y="365760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Switch role</a:t>
            </a:r>
            <a:endParaRPr sz="102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10912" y="3950208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 Layer 2 switch reads the destination MAC and forwards the frame; it does not change IP addresses.</a:t>
            </a:r>
            <a:endParaRPr sz="8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010144" y="3493008"/>
            <a:ext cx="340156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74736" y="363931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363931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2C55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endParaRPr sz="1000" b="1">
              <a:solidFill>
                <a:srgbClr val="22C55E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50224" y="365760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Correction</a:t>
            </a:r>
            <a:endParaRPr sz="102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650224" y="3950208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Change PC1 to 192.168.1.2. Both hosts now share 192.168.1.0/24.</a:t>
            </a:r>
            <a:endParaRPr sz="8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31520" y="5120640"/>
            <a:ext cx="5074920" cy="76809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" y="5120640"/>
            <a:ext cx="50292" cy="76809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19379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Q1  Does the switch change the IP?</a:t>
            </a:r>
            <a:endParaRPr sz="88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6112" y="5431536"/>
            <a:ext cx="4736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No. It looks only at the destination MAC and its MAC address table.</a:t>
            </a:r>
            <a:endParaRPr sz="8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199632" y="5120640"/>
            <a:ext cx="5074920" cy="76809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2" y="5120640"/>
            <a:ext cx="50292" cy="7680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64224" y="519379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Q2  What does the mask do?</a:t>
            </a:r>
            <a:endParaRPr sz="88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364224" y="5431536"/>
            <a:ext cx="4736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It separates network bits from host bits and decides local vs. remote.</a:t>
            </a:r>
            <a:endParaRPr sz="84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31520" y="6016752"/>
            <a:ext cx="10725912" cy="256032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31520" y="6016752"/>
            <a:ext cx="50292" cy="25603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6071616"/>
            <a:ext cx="1039672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Conclusion: same subnet is not “same switch”; it means the same network ID.</a:t>
            </a:r>
            <a:endParaRPr sz="98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2: Three Routers and Static Routing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02 · 2 PCs + 2 switches + 3 routers; four /24 networks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6720840" cy="4069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lab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267" y="1847088"/>
            <a:ext cx="6407345" cy="3630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522976"/>
            <a:ext cx="653795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Original topology: 2.pkt (PC0–Route0–Route1–Route2–PC1)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62672" y="1755648"/>
            <a:ext cx="379476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62672" y="1755648"/>
            <a:ext cx="50292" cy="111556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84708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2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goal</a:t>
            </a:r>
            <a:endParaRPr sz="102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8120" y="2103120"/>
            <a:ext cx="3493008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PC gateways configured
· All router links up/up
· Bidirectional static routes</a:t>
            </a:r>
            <a:endParaRPr sz="8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662672" y="2999232"/>
          <a:ext cx="3794758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9594"/>
                <a:gridCol w="1500456"/>
                <a:gridCol w="1334708"/>
              </a:tblGrid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Area</a:t>
                      </a:r>
                      <a:endParaRPr sz="8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Network</a:t>
                      </a:r>
                      <a:endParaRPr sz="8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Gateway / link</a:t>
                      </a:r>
                      <a:endParaRPr sz="8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Orange LAN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192.168.1.0/24</a:t>
                      </a:r>
                      <a:endParaRPr sz="80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R0 G0/0/0 .254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Blue transit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192.168.10.0/24</a:t>
                      </a:r>
                      <a:endParaRPr sz="80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R0 .1 ↔ R1 .2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Red transit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192.168.20.0/24</a:t>
                      </a:r>
                      <a:endParaRPr sz="80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R1 .3 ↔ R2 .4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Yellow LAN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192.168.2.0/24</a:t>
                      </a:r>
                      <a:endParaRPr sz="80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0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R2 G0/0/1 .254</a:t>
                      </a:r>
                      <a:endParaRPr sz="80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662672" y="5102352"/>
            <a:ext cx="3794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.1 and PC1 .1; all masks /24.</a:t>
            </a:r>
            <a:endParaRPr sz="82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5925312"/>
            <a:ext cx="10725912" cy="329184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925312"/>
            <a:ext cx="50292" cy="329184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980176"/>
            <a:ext cx="10396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Task: configure host gateways, router interfaces, and both forward and return static routes.</a:t>
            </a:r>
            <a:endParaRPr sz="98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2: Interfaces and Static Routes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Use CLI output from 2.pkt to confirm what each router knows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21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19072"/>
            <a:ext cx="5285232" cy="26060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r0_route_cmd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323" y="1773936"/>
            <a:ext cx="5005625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023360"/>
            <a:ext cx="51023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Route0: S 192.168.2.0/24 via 192.168.10.2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99632" y="1719072"/>
            <a:ext cx="5257800" cy="24871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r1_route_cm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798339"/>
            <a:ext cx="5148072" cy="2072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1072" y="3904487"/>
            <a:ext cx="5074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Route1: S 192.168.1.0 via .10.1 and 192.168.2.0 via .20.4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4462272"/>
          <a:ext cx="10725909" cy="1325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7109"/>
                <a:gridCol w="3098596"/>
                <a:gridCol w="3241608"/>
                <a:gridCol w="3098596"/>
              </a:tblGrid>
              <a:tr h="30175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Router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Destination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Mask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Next hop</a:t>
                      </a:r>
                      <a:endParaRPr sz="90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Route0</a:t>
                      </a:r>
                      <a:endParaRPr sz="8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255.255.255.0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192.168.10.2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Route1</a:t>
                      </a:r>
                      <a:endParaRPr sz="8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255.255.255.0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192.168.20.4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Route1</a:t>
                      </a:r>
                      <a:endParaRPr sz="8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255.255.255.0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192.168.10.1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Route2</a:t>
                      </a:r>
                      <a:endParaRPr sz="88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192.168.1.0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255.255.255.0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8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192.168.20.3</a:t>
                      </a:r>
                      <a:endParaRPr sz="88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31520" y="5925312"/>
            <a:ext cx="10725912" cy="329184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925312"/>
            <a:ext cx="50292" cy="329184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980176"/>
            <a:ext cx="103967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Static-route pattern: ip route &lt;destination&gt; &lt;mask&gt; &lt;next hop&gt;. Every router needs a forward and a return path.</a:t>
            </a:r>
            <a:endParaRPr sz="9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2: End-to-End Verification and Failure Cases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 successful ping is the result; explaining where it can fail is the goal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22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897880" cy="2057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" name="Picture 7" descr="lab2_ping_cmd_cle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912059"/>
            <a:ext cx="5788152" cy="14885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3511296"/>
            <a:ext cx="5715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4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→ PC1: 0% loss, TTL 125 (three routers)</a:t>
            </a:r>
            <a:endParaRPr sz="84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03720" y="1755648"/>
            <a:ext cx="45537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03720" y="1755648"/>
            <a:ext cx="50292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1847088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1">
                <a:solidFill>
                  <a:srgbClr val="DC262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No return route on Route2</a:t>
            </a:r>
            <a:endParaRPr sz="960" b="1">
              <a:solidFill>
                <a:srgbClr val="DC262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68312" y="2103120"/>
            <a:ext cx="4206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request reaches PC1, but the reply has no route back to 192.168.1.0 and is dropped. PC0 times out.</a:t>
            </a:r>
            <a:endParaRPr sz="81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903720" y="3035808"/>
            <a:ext cx="45537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03720" y="3035808"/>
            <a:ext cx="50292" cy="1097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68312" y="3127248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Missing route on Route1</a:t>
            </a:r>
            <a:endParaRPr sz="96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68312" y="3383279"/>
            <a:ext cx="4206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packet reaches Route1, which has no route to 192.168.2.0; forwarding stops and PC0 times out.</a:t>
            </a:r>
            <a:endParaRPr sz="81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903720" y="4315968"/>
            <a:ext cx="455371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4315968"/>
            <a:ext cx="50292" cy="10972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68312" y="4407407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No default gateway on PC0</a:t>
            </a:r>
            <a:endParaRPr sz="96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68312" y="4663440"/>
            <a:ext cx="420624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treats the remote destination as local and cannot deliver the frame; the ping fails immediately.</a:t>
            </a:r>
            <a:endParaRPr sz="81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096512"/>
            <a:ext cx="5897880" cy="822960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096512"/>
            <a:ext cx="50292" cy="82296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178808"/>
            <a:ext cx="55686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Read the evidence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556869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TTL 125 = 128 − 3. The packet crossed three routers, matching the path in the topology.</a:t>
            </a:r>
            <a:endParaRPr sz="94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1520" y="5102352"/>
            <a:ext cx="10725912" cy="658368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102352"/>
            <a:ext cx="50292" cy="65836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184648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Fixed order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4400" y="5394960"/>
            <a:ext cx="103967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Troubleshooting order: PC gateway → interface up/up → show ip route → return route → ping again.</a:t>
            </a:r>
            <a:endParaRPr sz="98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4440" y="2331720"/>
            <a:ext cx="777240" cy="7315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5176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200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3090672"/>
            <a:ext cx="87782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Troubleshoot and Summary</a:t>
            </a:r>
            <a:endParaRPr sz="44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34440" y="4206240"/>
            <a:ext cx="4206240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Troubleshooting: Match the Symptom to the Layer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Check physical → Layer 2 → Layer 3, and change one variable at a time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24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55648"/>
          <a:ext cx="10725911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3200400"/>
                <a:gridCol w="2606040"/>
                <a:gridCol w="2084831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Symptom</a:t>
                      </a:r>
                      <a:endParaRPr sz="9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Most likely cause</a:t>
                      </a:r>
                      <a:endParaRPr sz="9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Check first</a:t>
                      </a:r>
                      <a:endParaRPr sz="9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920" b="1">
                          <a:solidFill>
                            <a:srgbClr val="FFFFFF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Action</a:t>
                      </a:r>
                      <a:endParaRPr sz="920" b="1">
                        <a:solidFill>
                          <a:srgbClr val="FFFFFF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143C64"/>
                      </a:solidFill>
                    </a:lnL>
                    <a:lnR w="9525" cap="flat" cmpd="sng" algn="ctr">
                      <a:solidFill>
                        <a:srgbClr val="143C64"/>
                      </a:solidFill>
                    </a:lnR>
                    <a:lnT w="9525" cap="flat" cmpd="sng" algn="ctr">
                      <a:solidFill>
                        <a:srgbClr val="143C64"/>
                      </a:solidFill>
                    </a:lnT>
                    <a:lnB w="9525" cap="flat" cmpd="sng" algn="ctr">
                      <a:solidFill>
                        <a:srgbClr val="143C64"/>
                      </a:solidFill>
                    </a:lnB>
                    <a:solidFill>
                      <a:srgbClr val="143C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Link LED off or red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Wrong cable or interface shutdown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Both ends; interface state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Replace cable; no shutdown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Same-switch PC cannot ping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IP / mask not in the same subnet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ipconfig on both PCs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Use the same network ID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Gateway replies, far end does not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Missing route or return route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show ip route on each router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Add forward and return routes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First ping times out, later replies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ARP resolution or convergence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Second ping; ARP entry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Wait and retest; not a config fault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Consolas" panose="020B0609020204030204"/>
                          <a:ea typeface="微软雅黑" panose="020B0503020204020204" charset="-122"/>
                          <a:cs typeface="Consolas" panose="020B0609020204030204"/>
                        </a:rPr>
                        <a:t>Router link stays down</a:t>
                      </a:r>
                      <a:endParaRPr sz="890" b="0">
                        <a:solidFill>
                          <a:srgbClr val="1E293B"/>
                        </a:solidFill>
                        <a:latin typeface="Consolas" panose="020B0609020204030204"/>
                        <a:ea typeface="微软雅黑" panose="020B0503020204020204" charset="-122"/>
                        <a:cs typeface="Consolas" panose="020B0609020204030204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Interface still administratively down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show ip interface brief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8000"/>
                        </a:lnSpc>
                      </a:pPr>
                      <a:r>
                        <a:rPr sz="890" b="0">
                          <a:solidFill>
                            <a:srgbClr val="1E293B"/>
                          </a:solidFill>
                          <a:latin typeface="Segoe UI" panose="020B0502040204020203"/>
                          <a:ea typeface="微软雅黑" panose="020B0503020204020204" charset="-122"/>
                          <a:cs typeface="Segoe UI" panose="020B0502040204020203"/>
                        </a:rPr>
                        <a:t>Enter no shutdown</a:t>
                      </a:r>
                      <a:endParaRPr sz="890" b="0">
                        <a:solidFill>
                          <a:srgbClr val="1E293B"/>
                        </a:solidFill>
                        <a:latin typeface="Segoe UI" panose="020B0502040204020203"/>
                        <a:ea typeface="微软雅黑" panose="020B0503020204020204" charset="-122"/>
                        <a:cs typeface="Segoe UI" panose="020B0502040204020203"/>
                      </a:endParaRPr>
                    </a:p>
                  </a:txBody>
                  <a:tcPr marR="73152" marT="32004" marB="32004" anchor="ctr">
                    <a:lnL w="9525" cap="flat" cmpd="sng" algn="ctr">
                      <a:solidFill>
                        <a:srgbClr val="E2E8F0"/>
                      </a:solidFill>
                    </a:lnL>
                    <a:lnR w="9525" cap="flat" cmpd="sng" algn="ctr">
                      <a:solidFill>
                        <a:srgbClr val="E2E8F0"/>
                      </a:solidFill>
                    </a:lnR>
                    <a:lnT w="9525" cap="flat" cmpd="sng" algn="ctr">
                      <a:solidFill>
                        <a:srgbClr val="E2E8F0"/>
                      </a:solidFill>
                    </a:lnT>
                    <a:lnB w="9525" cap="flat" cmpd="sng" algn="ctr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303520"/>
            <a:ext cx="10725912" cy="77724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303520"/>
            <a:ext cx="50292" cy="77724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85816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Discipline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5596128"/>
            <a:ext cx="10396728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9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 not change three things at once. If you do, a working network will not tell you which change fixed it.</a:t>
            </a:r>
            <a:endParaRPr sz="99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Submission Checklist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Check each item as you finish a lab, not after writing the report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25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5239512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55648"/>
            <a:ext cx="5239512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Shared</a:t>
            </a:r>
            <a:endParaRPr sz="112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32688" y="2258568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212848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Topology matches the manual; labels are clear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32688" y="2551175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2505456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All PC addresses, masks, and gateways checked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32688" y="2843784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798064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Key interfaces are up/up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32688" y="3136391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3B82F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3090672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Every test has a CLI capture or written record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99632" y="1755648"/>
            <a:ext cx="5239512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755648"/>
            <a:ext cx="5239512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901952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1</a:t>
            </a:r>
            <a:endParaRPr sz="112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0" y="2258568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2212848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Initial failure captured (100% loss)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400800" y="2551175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2505456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PC1 corrected to 192.168.1.2/24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0" y="2843784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2798064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Second ping shows 0% loss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0" y="3136391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0D948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3090672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Can explain why the first ping failed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31520" y="3639312"/>
            <a:ext cx="5239512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639312"/>
            <a:ext cx="523951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785615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2</a:t>
            </a:r>
            <a:endParaRPr sz="112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32688" y="4142232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3856" y="4096512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Both PC gateways configured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32688" y="4434840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33856" y="4389120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Three routers have interface addresses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32688" y="4727448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3856" y="4681728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Four static routes installed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932688" y="5020056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F59E0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3856" y="4974336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PC0 reaches PC1 with 0% loss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99632" y="3639312"/>
            <a:ext cx="5239512" cy="17190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99632" y="3639312"/>
            <a:ext cx="523951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3785615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0" b="1">
                <a:solidFill>
                  <a:srgbClr val="6366F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Report</a:t>
            </a:r>
            <a:endParaRPr sz="1120" b="1">
              <a:solidFill>
                <a:srgbClr val="6366F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400800" y="4142232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6366F1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4096512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Configuration commands included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400800" y="4434840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6366F1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01968" y="4389120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Verification output included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400800" y="4727448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6366F1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4681728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Result explained in your own words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400800" y="5020056"/>
            <a:ext cx="118872" cy="11887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3970">
            <a:solidFill>
              <a:srgbClr val="6366F1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974336"/>
            <a:ext cx="46451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3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Screenshots match the stated conclusion</a:t>
            </a:r>
            <a:endParaRPr sz="83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31520" y="5650992"/>
            <a:ext cx="10725912" cy="621792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1520" y="5650992"/>
            <a:ext cx="50292" cy="62179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5733288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Report standard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4400" y="5943600"/>
            <a:ext cx="103967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7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 report needs three kinds of evidence: the command, the output, and the explanation that connects them.</a:t>
            </a:r>
            <a:endParaRPr sz="97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How the Two Labs Connect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 forwarding question, two different layers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26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0235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102352" cy="7315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01</a:t>
            </a:r>
            <a:endParaRPr sz="88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 subnet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4526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Host resolves the peer MAC; switch forwards the frame.</a:t>
            </a:r>
            <a:endParaRPr sz="9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74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L2 local delivery</a:t>
            </a:r>
            <a:endParaRPr sz="74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510235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5102352" cy="731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20240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02</a:t>
            </a:r>
            <a:endParaRPr sz="88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217627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Different subnet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5080" y="2578608"/>
            <a:ext cx="4526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Host sends to the gateway; routers forward hop by hop.</a:t>
            </a:r>
            <a:endParaRPr sz="96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55080" y="3246120"/>
            <a:ext cx="1463040" cy="256032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74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L3 routed delivery</a:t>
            </a:r>
            <a:endParaRPr sz="74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1520" y="4242816"/>
            <a:ext cx="64008" cy="2926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Same subnet → MAC</a:t>
            </a:r>
            <a:endParaRPr sz="103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11880" y="4151376"/>
            <a:ext cx="7818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destination is local; ARP gives the destination MAC and the switch forwards.</a:t>
            </a:r>
            <a:endParaRPr sz="91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64008" cy="2926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764024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Different subnet → IP route</a:t>
            </a:r>
            <a:endParaRPr sz="103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11880" y="4754880"/>
            <a:ext cx="7818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The destination is remote; the host uses the gateway and each router looks up the destination network.</a:t>
            </a:r>
            <a:endParaRPr sz="91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31520" y="5449824"/>
            <a:ext cx="64008" cy="292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67528"/>
            <a:ext cx="2697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3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Address before conclusion</a:t>
            </a:r>
            <a:endParaRPr sz="103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11880" y="5358384"/>
            <a:ext cx="7818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 ping result only makes sense after you know the address, gateway, interface state, and route table.</a:t>
            </a:r>
            <a:endParaRPr sz="91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31520" y="5989320"/>
            <a:ext cx="10725912" cy="27432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989320"/>
            <a:ext cx="50292" cy="27432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044183"/>
            <a:ext cx="103967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One question: is the destination local? If yes, L2; if no, gateway and L3.</a:t>
            </a:r>
            <a:endParaRPr sz="96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66928"/>
            <a:ext cx="566928" cy="6400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070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Three Things to Take Away</a:t>
            </a:r>
            <a:endParaRPr sz="28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16736"/>
            <a:ext cx="10725912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Methods matter more than memorising a single command</a:t>
            </a:r>
            <a:endParaRPr sz="12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64240" y="6382512"/>
            <a:ext cx="640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A94A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27</a:t>
            </a:r>
            <a:endParaRPr sz="1000" b="0">
              <a:solidFill>
                <a:srgbClr val="8A94A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725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65960"/>
            <a:ext cx="713232" cy="713232"/>
          </a:xfrm>
          <a:prstGeom prst="roundRect">
            <a:avLst>
              <a:gd name="adj" fmla="val 14000"/>
            </a:avLst>
          </a:prstGeom>
          <a:solidFill>
            <a:srgbClr val="DBEA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65960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3B82F6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600" b="1">
              <a:solidFill>
                <a:srgbClr val="3B82F6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10512" y="192024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Physical before logical.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10512" y="2313432"/>
            <a:ext cx="9052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If the link is down, check cable, interface state, and no shutdown before changing IP settings.</a:t>
            </a:r>
            <a:endParaRPr sz="9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3054096"/>
            <a:ext cx="10725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3264408"/>
            <a:ext cx="713232" cy="713232"/>
          </a:xfrm>
          <a:prstGeom prst="roundRect">
            <a:avLst>
              <a:gd name="adj" fmla="val 14000"/>
            </a:avLst>
          </a:prstGeom>
          <a:solidFill>
            <a:srgbClr val="D1FAE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264408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0D948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600" b="1">
              <a:solidFill>
                <a:srgbClr val="0D948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10512" y="3218688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Direct before remote.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10512" y="3611879"/>
            <a:ext cx="9052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Ping the peer on the same subnet; for a remote target, ping the gateway first, then the far end.</a:t>
            </a:r>
            <a:endParaRPr sz="9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1520" y="4352544"/>
            <a:ext cx="10725912" cy="11338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90000" dist="25400" dir="5400000" rotWithShape="0">
              <a:srgbClr val="0F172A">
                <a:alpha val="13000"/>
              </a:srgbClr>
            </a:outerShdw>
          </a:effectLst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4562856"/>
            <a:ext cx="713232" cy="713232"/>
          </a:xfrm>
          <a:prstGeom prst="roundRect">
            <a:avLst>
              <a:gd name="adj" fmla="val 14000"/>
            </a:avLst>
          </a:prstGeom>
          <a:solidFill>
            <a:srgbClr val="FEF3C7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562856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600" b="1">
              <a:solidFill>
                <a:srgbClr val="F59E0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10512" y="451713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43C6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Evidence before conclusion.</a:t>
            </a:r>
            <a:endParaRPr sz="1600" b="1">
              <a:solidFill>
                <a:srgbClr val="143C6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10512" y="4910328"/>
            <a:ext cx="90525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475569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 screenshot is not proof by itself; connect the command, the output, and the reason.</a:t>
            </a:r>
            <a:endParaRPr sz="950" b="0">
              <a:solidFill>
                <a:srgbClr val="475569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5687568"/>
            <a:ext cx="10725912" cy="612648"/>
          </a:xfrm>
          <a:prstGeom prst="roundRect">
            <a:avLst>
              <a:gd name="adj" fmla="val 7000"/>
            </a:avLst>
          </a:prstGeom>
          <a:solidFill>
            <a:srgbClr val="E6F6F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687568"/>
            <a:ext cx="50292" cy="612648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69864"/>
            <a:ext cx="103967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" b="1">
                <a:solidFill>
                  <a:srgbClr val="1F9E8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After class</a:t>
            </a:r>
            <a:endParaRPr sz="920" b="1">
              <a:solidFill>
                <a:srgbClr val="1F9E8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5980176"/>
            <a:ext cx="10396728" cy="26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E293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Next: complete 1.pkt and 2.pkt, then submit command → output → explanation for each required test.</a:t>
            </a:r>
            <a:endParaRPr sz="1000" b="0">
              <a:solidFill>
                <a:srgbClr val="1E293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itle_bg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73736" y="0"/>
            <a:ext cx="12691872" cy="71414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solidFill>
            <a:srgbClr val="143C6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" y="0"/>
            <a:ext cx="91440" cy="6858000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920240"/>
            <a:ext cx="960120" cy="73152"/>
          </a:xfrm>
          <a:prstGeom prst="rect">
            <a:avLst/>
          </a:prstGeom>
          <a:solidFill>
            <a:srgbClr val="1F9E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76272"/>
            <a:ext cx="89611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Thank You</a:t>
            </a:r>
            <a:endParaRPr sz="4400" b="1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3154680"/>
            <a:ext cx="8961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CBD5E1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Questions &amp; Discussion</a:t>
            </a:r>
            <a:endParaRPr sz="1900" b="0">
              <a:solidFill>
                <a:srgbClr val="CBD5E1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71600" y="3977639"/>
            <a:ext cx="9601200" cy="11887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22452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EE6108 · Cisco Packet Tracer · Labs 1 and 2</a:t>
            </a:r>
            <a:endParaRPr sz="1150" b="0">
              <a:solidFill>
                <a:srgbClr val="94A3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32520" y="6053328"/>
            <a:ext cx="2194560" cy="475488"/>
          </a:xfrm>
          <a:prstGeom prst="roundRect">
            <a:avLst>
              <a:gd name="adj" fmla="val 30000"/>
            </a:avLst>
          </a:prstGeom>
          <a:solidFill>
            <a:srgbClr val="F5F8FB"/>
          </a:solidFill>
          <a:ln w="12700">
            <a:solidFill>
              <a:srgbClr val="DDE3EA"/>
            </a:solidFill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0">
                <a:solidFill>
                  <a:srgbClr val="333D4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Lab Teaching</a:t>
            </a:r>
            <a:endParaRPr sz="1100" b="0">
              <a:solidFill>
                <a:srgbClr val="333D4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13616</Words>
  <Application>WPS 演示</Application>
  <PresentationFormat>On-screen Show (4:3)</PresentationFormat>
  <Paragraphs>940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Arial</vt:lpstr>
      <vt:lpstr>宋体</vt:lpstr>
      <vt:lpstr>Wingdings</vt:lpstr>
      <vt:lpstr>Arial</vt:lpstr>
      <vt:lpstr>Segoe UI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WPS_1722218353</cp:lastModifiedBy>
  <cp:revision>2</cp:revision>
  <dcterms:created xsi:type="dcterms:W3CDTF">2013-01-27T09:14:00Z</dcterms:created>
  <dcterms:modified xsi:type="dcterms:W3CDTF">2026-10-19T15:40:07Z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D12B3AF1D683413DB4F23246B041F05B_13</vt:lpwstr>
  </property>
  <property fmtid="{D5CDD505-2E9C-101B-9397-08002B2CF9AE}" pid="3" name="KSOProductBuildVer">
    <vt:lpwstr>2052-12.1.0.29161</vt:lpwstr>
  </property>
</Properties>
</file>