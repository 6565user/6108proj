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64" r:id="rId3"/>
    <p:sldId id="257" r:id="rId4"/>
    <p:sldId id="258" r:id="rId5"/>
    <p:sldId id="259" r:id="rId6"/>
    <p:sldId id="277" r:id="rId7"/>
    <p:sldId id="260" r:id="rId8"/>
    <p:sldId id="265" r:id="rId9"/>
    <p:sldId id="261" r:id="rId10"/>
    <p:sldId id="266" r:id="rId11"/>
    <p:sldId id="267" r:id="rId12"/>
    <p:sldId id="278" r:id="rId13"/>
    <p:sldId id="310" r:id="rId14"/>
    <p:sldId id="311" r:id="rId15"/>
    <p:sldId id="269" r:id="rId16"/>
    <p:sldId id="268" r:id="rId17"/>
    <p:sldId id="280" r:id="rId18"/>
    <p:sldId id="287" r:id="rId19"/>
    <p:sldId id="288" r:id="rId20"/>
    <p:sldId id="289" r:id="rId21"/>
    <p:sldId id="281" r:id="rId22"/>
    <p:sldId id="270" r:id="rId23"/>
    <p:sldId id="282" r:id="rId24"/>
    <p:sldId id="274" r:id="rId25"/>
    <p:sldId id="275" r:id="rId26"/>
    <p:sldId id="283" r:id="rId27"/>
    <p:sldId id="276" r:id="rId28"/>
    <p:sldId id="312" r:id="rId29"/>
    <p:sldId id="313" r:id="rId30"/>
    <p:sldId id="284" r:id="rId31"/>
    <p:sldId id="262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42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412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dirty="0"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dirty="0"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dirty="0"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sz="1200" dirty="0"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sz="1200" dirty="0"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dirty="0"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dirty="0"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dirty="0"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dirty="0"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dirty="0"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dirty="0"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dirty="0"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dirty="0"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dirty="0"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dirty="0"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dirty="0"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dirty="0"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dirty="0"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dirty="0"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dirty="0"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dirty="0"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dirty="0"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dirty="0"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dirty="0"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dirty="0"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dirty="0"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sz="1200" dirty="0"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7916-644D-4303-8AE2-A09602E776ED}" type="datetime1">
              <a:rPr lang="en-US" altLang="zh-CN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82DE-DEA0-431D-A049-29B399E2EACE}" type="datetime1">
              <a:rPr lang="en-US" altLang="zh-CN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7A78E-094D-4D60-86E1-48F252703661}" type="datetime1">
              <a:rPr lang="en-US" altLang="zh-CN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366A7-38C0-4116-A271-49D6C129E998}" type="datetime1">
              <a:rPr lang="en-US" altLang="zh-CN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39986-EE32-40C7-BBCD-E9CB9D3B1BBA}" type="datetime1">
              <a:rPr lang="en-US" altLang="zh-CN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598BB-6BEE-4345-8E50-B0CB903DDDE0}" type="datetime1">
              <a:rPr lang="en-US" altLang="zh-CN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DC4E9-920A-4A4D-90B4-7A723461BD89}" type="datetime1">
              <a:rPr lang="en-US" altLang="zh-CN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058400" y="6492875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FE4B0-B7DF-45FD-A4C7-5A85D8EBD231}" type="datetime1">
              <a:rPr lang="en-US" altLang="zh-CN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83588-A460-4213-B12E-D9219E8E55A1}" type="datetime1">
              <a:rPr lang="en-US" altLang="zh-CN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D3903-9B98-4268-9E37-23D29C6016D6}" type="datetime1">
              <a:rPr lang="en-US" altLang="zh-CN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1D8F0-0380-45E1-9485-7C0059A12AED}" type="datetime1">
              <a:rPr lang="en-US" altLang="zh-CN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</a:defRPr>
            </a:lvl1pPr>
          </a:lstStyle>
          <a:p>
            <a:fld id="{CA9CCA3A-95FB-42AA-96E2-E1CB1C48BB63}" type="datetime1">
              <a:rPr lang="en-US" altLang="zh-CN" smtClean="0"/>
              <a:t>10/19/2026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微软雅黑" panose="020B0503020204020204" pitchFamily="34" charset="-122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微软雅黑" panose="020B0503020204020204" pitchFamily="34" charset="-122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微软雅黑" panose="020B0503020204020204" pitchFamily="34" charset="-122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微软雅黑" panose="020B0503020204020204" pitchFamily="34" charset="-122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Innovative Technology Partners | Cloud, Connectivity &amp; Security Solutions">
            <a:extLst>
              <a:ext uri="{FF2B5EF4-FFF2-40B4-BE49-F238E27FC236}">
                <a16:creationId xmlns:a16="http://schemas.microsoft.com/office/drawing/2014/main" id="{68240905-F61F-FB80-32DD-F90A036AC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3411" y="0"/>
            <a:ext cx="12688409" cy="713723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143C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84048" y="0"/>
            <a:ext cx="91440" cy="68580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371600" y="777240"/>
            <a:ext cx="960120" cy="762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1600" y="1051560"/>
            <a:ext cx="9966960" cy="1219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zh-CN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Computer Networking Fundamentals</a:t>
            </a:r>
            <a:endParaRPr lang="en-US" altLang="zh-CN" sz="3600" dirty="0">
              <a:solidFill>
                <a:schemeClr val="bg1"/>
              </a:solidFill>
              <a:latin typeface="微软雅黑" panose="020B0503020204020204" pitchFamily="34" charset="-122"/>
            </a:endParaRPr>
          </a:p>
          <a:p>
            <a:pPr algn="r"/>
            <a:r>
              <a:rPr lang="zh-CN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— From LAN Communication to Routing and Forwarding</a:t>
            </a:r>
            <a:endParaRPr lang="en-US" altLang="zh-CN" sz="36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585541" y="5874580"/>
            <a:ext cx="3166647" cy="576512"/>
          </a:xfrm>
          <a:prstGeom prst="roundRect">
            <a:avLst>
              <a:gd name="adj" fmla="val 9000"/>
            </a:avLst>
          </a:prstGeom>
          <a:solidFill>
            <a:srgbClr val="F5F8FB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56032" bIns="201168" rtlCol="0" anchor="ctr">
            <a:noAutofit/>
          </a:bodyPr>
          <a:lstStyle/>
          <a:p>
            <a:r>
              <a:rPr lang="zh-CN" altLang="en-US" dirty="0">
                <a:solidFill>
                  <a:srgbClr val="333D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Presented by: group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5806440"/>
            <a:ext cx="9418320" cy="1270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7BD5F9-13C1-DA03-F86F-DAF75EB3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33CC95A-A583-A91B-8612-4E52D9EAE727}"/>
              </a:ext>
            </a:extLst>
          </p:cNvPr>
          <p:cNvSpPr txBox="1"/>
          <p:nvPr/>
        </p:nvSpPr>
        <p:spPr>
          <a:xfrm>
            <a:off x="386626" y="724155"/>
            <a:ext cx="110832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We all use Wi-Fi, visit websites, and move files between our phones and computers. But when you click a web page, have you ever wondered: how does the data leave your computer? And if the destination device is not even in the same network, how does the data find it?</a:t>
            </a:r>
          </a:p>
          <a:p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Today we start from the most basic network connections and build up, step by step, an understanding of how data travels across a network.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pic>
        <p:nvPicPr>
          <p:cNvPr id="4" name="图片 3" descr="How to create a Home Network">
            <a:extLst>
              <a:ext uri="{FF2B5EF4-FFF2-40B4-BE49-F238E27FC236}">
                <a16:creationId xmlns:a16="http://schemas.microsoft.com/office/drawing/2014/main" id="{8B1B9A5D-6D89-20D0-11AC-2D1954164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33" y="2855473"/>
            <a:ext cx="5534825" cy="233021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738C8BB-86A7-9F41-36C2-C570B3D2C682}"/>
              </a:ext>
            </a:extLst>
          </p:cNvPr>
          <p:cNvSpPr txBox="1"/>
          <p:nvPr/>
        </p:nvSpPr>
        <p:spPr>
          <a:xfrm>
            <a:off x="5991258" y="2855473"/>
            <a:ext cx="5417263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Two computers on the same Wi-Fi — can they always talk to each other directly?</a:t>
            </a:r>
          </a:p>
          <a:p>
            <a:pPr lvl="0"/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a computer knows the other side's IP address, can it simply send the data?</a:t>
            </a:r>
          </a:p>
          <a:p>
            <a:pPr lvl="0"/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the destination computer is in another network, who should the data be handed to?</a:t>
            </a:r>
          </a:p>
          <a:p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DE0034A-EA0F-1BAF-211F-5C0CD5E03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518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66928"/>
            <a:ext cx="566928" cy="635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960120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50" b="1" dirty="0">
                <a:solidFill>
                  <a:srgbClr val="143C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0348" y="1299254"/>
            <a:ext cx="10725912" cy="1270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55077"/>
            <a:ext cx="6770547" cy="566928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11474" y="1820346"/>
            <a:ext cx="45719" cy="432311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16546" y="1824424"/>
            <a:ext cx="3303011" cy="42823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F9E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01  </a:t>
            </a:r>
            <a:r>
              <a:rPr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Network Basics</a:t>
            </a:r>
            <a:endParaRPr lang="en-US" altLang="zh-CN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A208A4F4-1846-5956-6B08-009C3207614A}"/>
              </a:ext>
            </a:extLst>
          </p:cNvPr>
          <p:cNvSpPr/>
          <p:nvPr/>
        </p:nvSpPr>
        <p:spPr>
          <a:xfrm>
            <a:off x="731517" y="2589473"/>
            <a:ext cx="6770550" cy="566928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2" name="Rectangle 7">
            <a:extLst>
              <a:ext uri="{FF2B5EF4-FFF2-40B4-BE49-F238E27FC236}">
                <a16:creationId xmlns:a16="http://schemas.microsoft.com/office/drawing/2014/main" id="{57F105BB-74C1-A041-F0E3-1FFF3E435E51}"/>
              </a:ext>
            </a:extLst>
          </p:cNvPr>
          <p:cNvSpPr/>
          <p:nvPr/>
        </p:nvSpPr>
        <p:spPr>
          <a:xfrm>
            <a:off x="711473" y="2646895"/>
            <a:ext cx="45719" cy="432311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4" name="TextBox 8">
            <a:extLst>
              <a:ext uri="{FF2B5EF4-FFF2-40B4-BE49-F238E27FC236}">
                <a16:creationId xmlns:a16="http://schemas.microsoft.com/office/drawing/2014/main" id="{DC7FCE94-E567-777D-97E4-194B01DDEA9B}"/>
              </a:ext>
            </a:extLst>
          </p:cNvPr>
          <p:cNvSpPr txBox="1"/>
          <p:nvPr/>
        </p:nvSpPr>
        <p:spPr>
          <a:xfrm>
            <a:off x="1016545" y="2809355"/>
            <a:ext cx="6022493" cy="42823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000" b="1" dirty="0">
                <a:solidFill>
                  <a:srgbClr val="1F9E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  </a:t>
            </a:r>
            <a:r>
              <a:rPr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Addressing and Subnetting</a:t>
            </a:r>
            <a:endParaRPr lang="en-US" altLang="zh-CN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143C6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26" name="Rounded Rectangle 6">
            <a:extLst>
              <a:ext uri="{FF2B5EF4-FFF2-40B4-BE49-F238E27FC236}">
                <a16:creationId xmlns:a16="http://schemas.microsoft.com/office/drawing/2014/main" id="{3F631A7B-EEDA-D00C-6907-BAF9E90B5D4C}"/>
              </a:ext>
            </a:extLst>
          </p:cNvPr>
          <p:cNvSpPr/>
          <p:nvPr/>
        </p:nvSpPr>
        <p:spPr>
          <a:xfrm>
            <a:off x="721493" y="3551974"/>
            <a:ext cx="6786201" cy="566928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8" name="Rectangle 7">
            <a:extLst>
              <a:ext uri="{FF2B5EF4-FFF2-40B4-BE49-F238E27FC236}">
                <a16:creationId xmlns:a16="http://schemas.microsoft.com/office/drawing/2014/main" id="{D5A66ABA-0F60-7A7D-4EA2-9FDFBCAD4F54}"/>
              </a:ext>
            </a:extLst>
          </p:cNvPr>
          <p:cNvSpPr/>
          <p:nvPr/>
        </p:nvSpPr>
        <p:spPr>
          <a:xfrm>
            <a:off x="710348" y="3630138"/>
            <a:ext cx="45719" cy="432311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0" name="TextBox 8">
            <a:extLst>
              <a:ext uri="{FF2B5EF4-FFF2-40B4-BE49-F238E27FC236}">
                <a16:creationId xmlns:a16="http://schemas.microsoft.com/office/drawing/2014/main" id="{D09664B9-C6DA-0A8A-6ED0-C1871780909E}"/>
              </a:ext>
            </a:extLst>
          </p:cNvPr>
          <p:cNvSpPr txBox="1"/>
          <p:nvPr/>
        </p:nvSpPr>
        <p:spPr>
          <a:xfrm>
            <a:off x="1014983" y="3764224"/>
            <a:ext cx="6435229" cy="42823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000" b="1" dirty="0">
                <a:solidFill>
                  <a:srgbClr val="1F9E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 </a:t>
            </a:r>
            <a:r>
              <a:rPr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Packet Forwarding and Hop-by-Hop Delivery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143C6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32" name="Rounded Rectangle 6">
            <a:extLst>
              <a:ext uri="{FF2B5EF4-FFF2-40B4-BE49-F238E27FC236}">
                <a16:creationId xmlns:a16="http://schemas.microsoft.com/office/drawing/2014/main" id="{268B2A6D-2160-C61A-59E6-BACB6AA3AC53}"/>
              </a:ext>
            </a:extLst>
          </p:cNvPr>
          <p:cNvSpPr/>
          <p:nvPr/>
        </p:nvSpPr>
        <p:spPr>
          <a:xfrm>
            <a:off x="737145" y="4477887"/>
            <a:ext cx="6770549" cy="566928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50F031C5-22D0-1661-40D7-61857A9C10A9}"/>
              </a:ext>
            </a:extLst>
          </p:cNvPr>
          <p:cNvSpPr/>
          <p:nvPr/>
        </p:nvSpPr>
        <p:spPr>
          <a:xfrm>
            <a:off x="717099" y="4543156"/>
            <a:ext cx="45719" cy="432311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6" name="TextBox 8">
            <a:extLst>
              <a:ext uri="{FF2B5EF4-FFF2-40B4-BE49-F238E27FC236}">
                <a16:creationId xmlns:a16="http://schemas.microsoft.com/office/drawing/2014/main" id="{E4B6DB24-6990-8909-923A-3D14E2017E98}"/>
              </a:ext>
            </a:extLst>
          </p:cNvPr>
          <p:cNvSpPr txBox="1"/>
          <p:nvPr/>
        </p:nvSpPr>
        <p:spPr>
          <a:xfrm>
            <a:off x="1016545" y="4547234"/>
            <a:ext cx="6491149" cy="42823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Bef>
                <a:spcPts val="200"/>
              </a:spcBef>
            </a:pPr>
            <a:r>
              <a:rPr lang="en-US" altLang="zh-CN" sz="2000" b="1" dirty="0">
                <a:solidFill>
                  <a:srgbClr val="1F9E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 </a:t>
            </a:r>
            <a:r>
              <a: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Routing Decisions and Static Routes</a:t>
            </a:r>
          </a:p>
        </p:txBody>
      </p:sp>
      <p:sp>
        <p:nvSpPr>
          <p:cNvPr id="38" name="Rounded Rectangle 6">
            <a:extLst>
              <a:ext uri="{FF2B5EF4-FFF2-40B4-BE49-F238E27FC236}">
                <a16:creationId xmlns:a16="http://schemas.microsoft.com/office/drawing/2014/main" id="{35D56852-6128-9727-315B-48842570A40E}"/>
              </a:ext>
            </a:extLst>
          </p:cNvPr>
          <p:cNvSpPr/>
          <p:nvPr/>
        </p:nvSpPr>
        <p:spPr>
          <a:xfrm>
            <a:off x="756067" y="5408903"/>
            <a:ext cx="6770549" cy="566928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40" name="Rectangle 7">
            <a:extLst>
              <a:ext uri="{FF2B5EF4-FFF2-40B4-BE49-F238E27FC236}">
                <a16:creationId xmlns:a16="http://schemas.microsoft.com/office/drawing/2014/main" id="{EF164E75-D304-792B-4E17-0C866B517437}"/>
              </a:ext>
            </a:extLst>
          </p:cNvPr>
          <p:cNvSpPr/>
          <p:nvPr/>
        </p:nvSpPr>
        <p:spPr>
          <a:xfrm>
            <a:off x="717099" y="5496559"/>
            <a:ext cx="45719" cy="432311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42" name="TextBox 8">
            <a:extLst>
              <a:ext uri="{FF2B5EF4-FFF2-40B4-BE49-F238E27FC236}">
                <a16:creationId xmlns:a16="http://schemas.microsoft.com/office/drawing/2014/main" id="{8F7594FA-B43E-B768-A26B-2582A5862F76}"/>
              </a:ext>
            </a:extLst>
          </p:cNvPr>
          <p:cNvSpPr txBox="1"/>
          <p:nvPr/>
        </p:nvSpPr>
        <p:spPr>
          <a:xfrm>
            <a:off x="1022173" y="5508738"/>
            <a:ext cx="3450532" cy="42823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Bef>
                <a:spcPts val="2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1F9E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  </a:t>
            </a:r>
            <a:r>
              <a: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Practice and Summary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38BCD3-8A65-0A33-FA00-00430EF2E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34440" y="2331720"/>
            <a:ext cx="777240" cy="762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822960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rgbClr val="1F9E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127248"/>
            <a:ext cx="877824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dirty="0">
                <a:solidFill>
                  <a:srgbClr val="143C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Network Basics</a:t>
            </a:r>
            <a:endParaRPr sz="3200" b="1" dirty="0">
              <a:solidFill>
                <a:srgbClr val="143C6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66934" y="4297680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sz="1300" b="0" dirty="0">
              <a:solidFill>
                <a:srgbClr val="8A94A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34440" y="3947160"/>
            <a:ext cx="4206240" cy="1270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08CA5D3D-8212-6D8A-E3C8-5ABF45DC8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66928"/>
            <a:ext cx="566928" cy="635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960120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50" b="1" dirty="0">
                <a:solidFill>
                  <a:srgbClr val="143C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Network Topology and Architecture</a:t>
            </a:r>
            <a:endParaRPr sz="2900" b="1" dirty="0">
              <a:solidFill>
                <a:srgbClr val="143C6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64014" y="1290191"/>
            <a:ext cx="10725912" cy="1270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1D9770C-24C3-BC13-35ED-5911D655EF28}"/>
              </a:ext>
            </a:extLst>
          </p:cNvPr>
          <p:cNvSpPr txBox="1"/>
          <p:nvPr/>
        </p:nvSpPr>
        <p:spPr>
          <a:xfrm>
            <a:off x="208654" y="1342890"/>
            <a:ext cx="6566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Basic topology vocabulary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A193DE3-93CB-0674-C814-C4D6C7620471}"/>
              </a:ext>
            </a:extLst>
          </p:cNvPr>
          <p:cNvSpPr txBox="1"/>
          <p:nvPr/>
        </p:nvSpPr>
        <p:spPr>
          <a:xfrm>
            <a:off x="816209" y="6164640"/>
            <a:ext cx="10082948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Paths are dynamic — the job of a routing protocol is to find the best path. 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4724DED1-5D55-559C-152C-511462E09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462" y="1687782"/>
            <a:ext cx="7702441" cy="4302536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D9DEDA-0164-C538-076E-075123B1F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13C70-5C6F-2346-285A-19F145698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9FCCF1-7F19-1975-F2B5-3412540C835C}"/>
              </a:ext>
            </a:extLst>
          </p:cNvPr>
          <p:cNvSpPr/>
          <p:nvPr/>
        </p:nvSpPr>
        <p:spPr>
          <a:xfrm>
            <a:off x="731520" y="566928"/>
            <a:ext cx="566928" cy="635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FAA2AB-C644-0EDA-3DCD-560A342EE7D4}"/>
              </a:ext>
            </a:extLst>
          </p:cNvPr>
          <p:cNvSpPr txBox="1"/>
          <p:nvPr/>
        </p:nvSpPr>
        <p:spPr>
          <a:xfrm>
            <a:off x="731520" y="749808"/>
            <a:ext cx="960120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zh-CN" altLang="en-US" sz="3250" b="1" dirty="0">
                <a:solidFill>
                  <a:srgbClr val="143C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Network Topology and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D44EF1-07C0-18C4-0491-FD5A9EC1B992}"/>
              </a:ext>
            </a:extLst>
          </p:cNvPr>
          <p:cNvSpPr txBox="1"/>
          <p:nvPr/>
        </p:nvSpPr>
        <p:spPr>
          <a:xfrm>
            <a:off x="731520" y="1374271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340" dirty="0">
                <a:solidFill>
                  <a:srgbClr val="8A94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What devices exist in a network, and what does each one do?</a:t>
            </a:r>
            <a:endParaRPr sz="1200" b="0" dirty="0">
              <a:solidFill>
                <a:srgbClr val="8A94A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8F689D-6D0A-EB03-F621-8B0BE364F18A}"/>
              </a:ext>
            </a:extLst>
          </p:cNvPr>
          <p:cNvSpPr/>
          <p:nvPr/>
        </p:nvSpPr>
        <p:spPr>
          <a:xfrm>
            <a:off x="734568" y="1282492"/>
            <a:ext cx="10725912" cy="1270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67E484F-D051-1BC3-9F14-366F17988C0C}"/>
              </a:ext>
            </a:extLst>
          </p:cNvPr>
          <p:cNvSpPr txBox="1"/>
          <p:nvPr/>
        </p:nvSpPr>
        <p:spPr>
          <a:xfrm>
            <a:off x="663093" y="5384917"/>
            <a:ext cx="1107682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Think of these three device types as three roles in network communication. End hosts create and receive the data, switches handle frame forwarding inside a LAN, and routers handle packet forwarding between different networks.</a:t>
            </a:r>
          </a:p>
          <a:p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Remember one simple distinction: a switch looks at MAC addresses, while a router looks up routes by destination IP address. </a:t>
            </a:r>
          </a:p>
          <a:p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7B27089F-739D-EC22-1456-E28C6274DB85}"/>
              </a:ext>
            </a:extLst>
          </p:cNvPr>
          <p:cNvSpPr/>
          <p:nvPr/>
        </p:nvSpPr>
        <p:spPr>
          <a:xfrm>
            <a:off x="320040" y="1877190"/>
            <a:ext cx="34747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F34A9A00-8AB7-4C38-CB49-A8716A6F82BE}"/>
              </a:ext>
            </a:extLst>
          </p:cNvPr>
          <p:cNvSpPr/>
          <p:nvPr/>
        </p:nvSpPr>
        <p:spPr>
          <a:xfrm>
            <a:off x="320040" y="1882669"/>
            <a:ext cx="3474720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B5FD4005-4E0D-8E22-BAC1-3BECD16BB5F0}"/>
              </a:ext>
            </a:extLst>
          </p:cNvPr>
          <p:cNvSpPr/>
          <p:nvPr/>
        </p:nvSpPr>
        <p:spPr>
          <a:xfrm>
            <a:off x="1490472" y="2334390"/>
            <a:ext cx="1143000" cy="685800"/>
          </a:xfrm>
          <a:prstGeom prst="rect">
            <a:avLst/>
          </a:prstGeom>
          <a:solidFill>
            <a:srgbClr val="DBEAF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cxnSp>
        <p:nvCxnSpPr>
          <p:cNvPr id="14" name="Connector 10">
            <a:extLst>
              <a:ext uri="{FF2B5EF4-FFF2-40B4-BE49-F238E27FC236}">
                <a16:creationId xmlns:a16="http://schemas.microsoft.com/office/drawing/2014/main" id="{40624776-A824-2A38-4A8C-302BCD9AECE6}"/>
              </a:ext>
            </a:extLst>
          </p:cNvPr>
          <p:cNvCxnSpPr/>
          <p:nvPr/>
        </p:nvCxnSpPr>
        <p:spPr>
          <a:xfrm>
            <a:off x="1783080" y="3056766"/>
            <a:ext cx="54864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1">
            <a:extLst>
              <a:ext uri="{FF2B5EF4-FFF2-40B4-BE49-F238E27FC236}">
                <a16:creationId xmlns:a16="http://schemas.microsoft.com/office/drawing/2014/main" id="{AF4DDAD3-464F-5424-0D05-1B3A5FA3B6B0}"/>
              </a:ext>
            </a:extLst>
          </p:cNvPr>
          <p:cNvCxnSpPr/>
          <p:nvPr/>
        </p:nvCxnSpPr>
        <p:spPr>
          <a:xfrm>
            <a:off x="2057400" y="3020190"/>
            <a:ext cx="0" cy="22860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2">
            <a:extLst>
              <a:ext uri="{FF2B5EF4-FFF2-40B4-BE49-F238E27FC236}">
                <a16:creationId xmlns:a16="http://schemas.microsoft.com/office/drawing/2014/main" id="{F4A6E98F-0474-3945-4D06-D188D8D9D7DF}"/>
              </a:ext>
            </a:extLst>
          </p:cNvPr>
          <p:cNvSpPr txBox="1"/>
          <p:nvPr/>
        </p:nvSpPr>
        <p:spPr>
          <a:xfrm>
            <a:off x="502920" y="3523110"/>
            <a:ext cx="310896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800" b="1" i="0">
                <a:solidFill>
                  <a:srgbClr val="102A43"/>
                </a:solidFill>
                <a:latin typeface="Microsoft YaHei"/>
              </a:defRPr>
            </a:pPr>
            <a:r>
              <a:rPr sz="17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End Host</a:t>
            </a: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F237C67A-49F6-66B7-F13D-ED7CD25818EA}"/>
              </a:ext>
            </a:extLst>
          </p:cNvPr>
          <p:cNvSpPr txBox="1"/>
          <p:nvPr/>
        </p:nvSpPr>
        <p:spPr>
          <a:xfrm>
            <a:off x="576072" y="4007741"/>
            <a:ext cx="2971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0" i="0">
                <a:solidFill>
                  <a:srgbClr val="1E293B"/>
                </a:solidFill>
                <a:latin typeface="Microsoft YaHei"/>
              </a:defRPr>
            </a:pPr>
            <a:r>
              <a:rPr sz="12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Generates, sends and receives application data</a:t>
            </a:r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79FD4CFF-EF81-101D-8D71-89DD15966D11}"/>
              </a:ext>
            </a:extLst>
          </p:cNvPr>
          <p:cNvSpPr txBox="1"/>
          <p:nvPr/>
        </p:nvSpPr>
        <p:spPr>
          <a:xfrm>
            <a:off x="548640" y="4620390"/>
            <a:ext cx="30175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100" b="0" i="0">
                <a:solidFill>
                  <a:srgbClr val="475569"/>
                </a:solidFill>
                <a:latin typeface="Microsoft YaHei"/>
              </a:defRPr>
            </a:pPr>
            <a:r>
              <a:rPr sz="13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PC / phone / server</a:t>
            </a:r>
          </a:p>
        </p:txBody>
      </p:sp>
      <p:sp>
        <p:nvSpPr>
          <p:cNvPr id="19" name="Rounded Rectangle 15">
            <a:extLst>
              <a:ext uri="{FF2B5EF4-FFF2-40B4-BE49-F238E27FC236}">
                <a16:creationId xmlns:a16="http://schemas.microsoft.com/office/drawing/2014/main" id="{3A7B1CB3-7707-6204-F69A-5651188B5CEC}"/>
              </a:ext>
            </a:extLst>
          </p:cNvPr>
          <p:cNvSpPr/>
          <p:nvPr/>
        </p:nvSpPr>
        <p:spPr>
          <a:xfrm>
            <a:off x="4160520" y="1877190"/>
            <a:ext cx="34747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0" name="Rectangle 16">
            <a:extLst>
              <a:ext uri="{FF2B5EF4-FFF2-40B4-BE49-F238E27FC236}">
                <a16:creationId xmlns:a16="http://schemas.microsoft.com/office/drawing/2014/main" id="{EA8E5864-B4B7-A838-2E11-3ED929A37DD1}"/>
              </a:ext>
            </a:extLst>
          </p:cNvPr>
          <p:cNvSpPr/>
          <p:nvPr/>
        </p:nvSpPr>
        <p:spPr>
          <a:xfrm>
            <a:off x="4160520" y="1877190"/>
            <a:ext cx="347472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1" name="Rounded Rectangle 17">
            <a:extLst>
              <a:ext uri="{FF2B5EF4-FFF2-40B4-BE49-F238E27FC236}">
                <a16:creationId xmlns:a16="http://schemas.microsoft.com/office/drawing/2014/main" id="{4092606A-03E4-5C0D-0322-DD9025EE46E8}"/>
              </a:ext>
            </a:extLst>
          </p:cNvPr>
          <p:cNvSpPr/>
          <p:nvPr/>
        </p:nvSpPr>
        <p:spPr>
          <a:xfrm>
            <a:off x="5029200" y="2453262"/>
            <a:ext cx="1737360" cy="5029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15C862D4-F8B8-EA1A-4FE2-1C53D0C7E485}"/>
              </a:ext>
            </a:extLst>
          </p:cNvPr>
          <p:cNvSpPr/>
          <p:nvPr/>
        </p:nvSpPr>
        <p:spPr>
          <a:xfrm>
            <a:off x="5148072" y="2599566"/>
            <a:ext cx="16459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3" name="Rectangle 19">
            <a:extLst>
              <a:ext uri="{FF2B5EF4-FFF2-40B4-BE49-F238E27FC236}">
                <a16:creationId xmlns:a16="http://schemas.microsoft.com/office/drawing/2014/main" id="{3DD44D3E-A211-2CC4-0807-E3EDAB30574F}"/>
              </a:ext>
            </a:extLst>
          </p:cNvPr>
          <p:cNvSpPr/>
          <p:nvPr/>
        </p:nvSpPr>
        <p:spPr>
          <a:xfrm>
            <a:off x="5440680" y="2599566"/>
            <a:ext cx="16459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4" name="Rectangle 20">
            <a:extLst>
              <a:ext uri="{FF2B5EF4-FFF2-40B4-BE49-F238E27FC236}">
                <a16:creationId xmlns:a16="http://schemas.microsoft.com/office/drawing/2014/main" id="{610E4249-4635-D12F-9570-AA9CF3540B77}"/>
              </a:ext>
            </a:extLst>
          </p:cNvPr>
          <p:cNvSpPr/>
          <p:nvPr/>
        </p:nvSpPr>
        <p:spPr>
          <a:xfrm>
            <a:off x="5733288" y="2599566"/>
            <a:ext cx="16459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5" name="Rectangle 21">
            <a:extLst>
              <a:ext uri="{FF2B5EF4-FFF2-40B4-BE49-F238E27FC236}">
                <a16:creationId xmlns:a16="http://schemas.microsoft.com/office/drawing/2014/main" id="{294A3A4A-7FFA-19BB-74A9-072487E963E0}"/>
              </a:ext>
            </a:extLst>
          </p:cNvPr>
          <p:cNvSpPr/>
          <p:nvPr/>
        </p:nvSpPr>
        <p:spPr>
          <a:xfrm>
            <a:off x="6025896" y="2599566"/>
            <a:ext cx="16459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6" name="Rectangle 22">
            <a:extLst>
              <a:ext uri="{FF2B5EF4-FFF2-40B4-BE49-F238E27FC236}">
                <a16:creationId xmlns:a16="http://schemas.microsoft.com/office/drawing/2014/main" id="{59AC6CC7-9368-2701-FF6D-84308564DB4F}"/>
              </a:ext>
            </a:extLst>
          </p:cNvPr>
          <p:cNvSpPr/>
          <p:nvPr/>
        </p:nvSpPr>
        <p:spPr>
          <a:xfrm>
            <a:off x="6318504" y="2599566"/>
            <a:ext cx="16459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7" name="TextBox 23">
            <a:extLst>
              <a:ext uri="{FF2B5EF4-FFF2-40B4-BE49-F238E27FC236}">
                <a16:creationId xmlns:a16="http://schemas.microsoft.com/office/drawing/2014/main" id="{5458CCE4-CFE8-7BB2-4EDC-0189E562FC25}"/>
              </a:ext>
            </a:extLst>
          </p:cNvPr>
          <p:cNvSpPr txBox="1"/>
          <p:nvPr/>
        </p:nvSpPr>
        <p:spPr>
          <a:xfrm>
            <a:off x="4343400" y="3523110"/>
            <a:ext cx="310896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800" b="1" i="0">
                <a:solidFill>
                  <a:srgbClr val="102A43"/>
                </a:solidFill>
                <a:latin typeface="Microsoft YaHei"/>
              </a:defRPr>
            </a:pPr>
            <a:r>
              <a:rPr sz="17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L2 Switch</a:t>
            </a:r>
          </a:p>
        </p:txBody>
      </p:sp>
      <p:sp>
        <p:nvSpPr>
          <p:cNvPr id="28" name="TextBox 24">
            <a:extLst>
              <a:ext uri="{FF2B5EF4-FFF2-40B4-BE49-F238E27FC236}">
                <a16:creationId xmlns:a16="http://schemas.microsoft.com/office/drawing/2014/main" id="{F2668A82-723C-FFEA-18FD-FE61AE544625}"/>
              </a:ext>
            </a:extLst>
          </p:cNvPr>
          <p:cNvSpPr txBox="1"/>
          <p:nvPr/>
        </p:nvSpPr>
        <p:spPr>
          <a:xfrm>
            <a:off x="4416552" y="4007741"/>
            <a:ext cx="2971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0" i="0">
                <a:solidFill>
                  <a:srgbClr val="1E293B"/>
                </a:solidFill>
                <a:latin typeface="Microsoft YaHei"/>
              </a:defRPr>
            </a:pPr>
            <a:r>
              <a:rPr sz="12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Forwards Ethernet frames by MAC address</a:t>
            </a:r>
          </a:p>
        </p:txBody>
      </p:sp>
      <p:sp>
        <p:nvSpPr>
          <p:cNvPr id="29" name="TextBox 25">
            <a:extLst>
              <a:ext uri="{FF2B5EF4-FFF2-40B4-BE49-F238E27FC236}">
                <a16:creationId xmlns:a16="http://schemas.microsoft.com/office/drawing/2014/main" id="{AE1817DB-4B1A-BAA9-CF55-9639E55E5589}"/>
              </a:ext>
            </a:extLst>
          </p:cNvPr>
          <p:cNvSpPr txBox="1"/>
          <p:nvPr/>
        </p:nvSpPr>
        <p:spPr>
          <a:xfrm>
            <a:off x="4389120" y="4620390"/>
            <a:ext cx="30175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100" b="0" i="0">
                <a:solidFill>
                  <a:srgbClr val="475569"/>
                </a:solidFill>
                <a:latin typeface="Microsoft YaHei"/>
              </a:defRPr>
            </a:pPr>
            <a:r>
              <a:rPr sz="13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Connects devices in the same LAN</a:t>
            </a:r>
          </a:p>
        </p:txBody>
      </p:sp>
      <p:sp>
        <p:nvSpPr>
          <p:cNvPr id="30" name="Rounded Rectangle 26">
            <a:extLst>
              <a:ext uri="{FF2B5EF4-FFF2-40B4-BE49-F238E27FC236}">
                <a16:creationId xmlns:a16="http://schemas.microsoft.com/office/drawing/2014/main" id="{40B031F7-9AEA-0E5A-E62C-D9E258C11D92}"/>
              </a:ext>
            </a:extLst>
          </p:cNvPr>
          <p:cNvSpPr/>
          <p:nvPr/>
        </p:nvSpPr>
        <p:spPr>
          <a:xfrm>
            <a:off x="8001000" y="1877190"/>
            <a:ext cx="34747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1" name="Rectangle 27">
            <a:extLst>
              <a:ext uri="{FF2B5EF4-FFF2-40B4-BE49-F238E27FC236}">
                <a16:creationId xmlns:a16="http://schemas.microsoft.com/office/drawing/2014/main" id="{7F6A9B75-FE8A-C8F1-2596-294BEF3937AC}"/>
              </a:ext>
            </a:extLst>
          </p:cNvPr>
          <p:cNvSpPr/>
          <p:nvPr/>
        </p:nvSpPr>
        <p:spPr>
          <a:xfrm>
            <a:off x="8001000" y="1877190"/>
            <a:ext cx="347472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2" name="Hexagon 28">
            <a:extLst>
              <a:ext uri="{FF2B5EF4-FFF2-40B4-BE49-F238E27FC236}">
                <a16:creationId xmlns:a16="http://schemas.microsoft.com/office/drawing/2014/main" id="{0B589D3E-458F-163D-30F7-F281F7F6D358}"/>
              </a:ext>
            </a:extLst>
          </p:cNvPr>
          <p:cNvSpPr/>
          <p:nvPr/>
        </p:nvSpPr>
        <p:spPr>
          <a:xfrm>
            <a:off x="9235440" y="2361822"/>
            <a:ext cx="1051560" cy="868680"/>
          </a:xfrm>
          <a:prstGeom prst="hexagon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3" name="TextBox 29">
            <a:extLst>
              <a:ext uri="{FF2B5EF4-FFF2-40B4-BE49-F238E27FC236}">
                <a16:creationId xmlns:a16="http://schemas.microsoft.com/office/drawing/2014/main" id="{CAAD9D02-C9F0-AF97-6212-0D55A154D74F}"/>
              </a:ext>
            </a:extLst>
          </p:cNvPr>
          <p:cNvSpPr txBox="1"/>
          <p:nvPr/>
        </p:nvSpPr>
        <p:spPr>
          <a:xfrm>
            <a:off x="9345168" y="2526414"/>
            <a:ext cx="8229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2300" b="1" i="0">
                <a:solidFill>
                  <a:srgbClr val="102A43"/>
                </a:solidFill>
                <a:latin typeface="Microsoft YaHei"/>
              </a:defRPr>
            </a:pPr>
            <a:r>
              <a:rPr sz="13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↔</a:t>
            </a:r>
          </a:p>
        </p:txBody>
      </p:sp>
      <p:sp>
        <p:nvSpPr>
          <p:cNvPr id="34" name="TextBox 30">
            <a:extLst>
              <a:ext uri="{FF2B5EF4-FFF2-40B4-BE49-F238E27FC236}">
                <a16:creationId xmlns:a16="http://schemas.microsoft.com/office/drawing/2014/main" id="{D694500F-56CD-F6F5-39F2-36E5BB1A7327}"/>
              </a:ext>
            </a:extLst>
          </p:cNvPr>
          <p:cNvSpPr txBox="1"/>
          <p:nvPr/>
        </p:nvSpPr>
        <p:spPr>
          <a:xfrm>
            <a:off x="8183880" y="3523110"/>
            <a:ext cx="310896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800" b="1" i="0">
                <a:solidFill>
                  <a:srgbClr val="102A43"/>
                </a:solidFill>
                <a:latin typeface="Microsoft YaHei"/>
              </a:defRPr>
            </a:pPr>
            <a:r>
              <a:rPr sz="17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L3 Router</a:t>
            </a:r>
          </a:p>
        </p:txBody>
      </p:sp>
      <p:sp>
        <p:nvSpPr>
          <p:cNvPr id="35" name="TextBox 31">
            <a:extLst>
              <a:ext uri="{FF2B5EF4-FFF2-40B4-BE49-F238E27FC236}">
                <a16:creationId xmlns:a16="http://schemas.microsoft.com/office/drawing/2014/main" id="{BD8B14A2-5662-D695-A9CA-B2DD2D93CADB}"/>
              </a:ext>
            </a:extLst>
          </p:cNvPr>
          <p:cNvSpPr txBox="1"/>
          <p:nvPr/>
        </p:nvSpPr>
        <p:spPr>
          <a:xfrm>
            <a:off x="8257032" y="4007741"/>
            <a:ext cx="2971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0" i="0">
                <a:solidFill>
                  <a:srgbClr val="1E293B"/>
                </a:solidFill>
                <a:latin typeface="Microsoft YaHei"/>
              </a:defRPr>
            </a:pPr>
            <a:r>
              <a:rPr sz="12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Forwards packets using the destination IP and its routing table</a:t>
            </a:r>
          </a:p>
        </p:txBody>
      </p:sp>
      <p:sp>
        <p:nvSpPr>
          <p:cNvPr id="36" name="TextBox 32">
            <a:extLst>
              <a:ext uri="{FF2B5EF4-FFF2-40B4-BE49-F238E27FC236}">
                <a16:creationId xmlns:a16="http://schemas.microsoft.com/office/drawing/2014/main" id="{F777BD03-208E-4677-4204-4E08A1040C3A}"/>
              </a:ext>
            </a:extLst>
          </p:cNvPr>
          <p:cNvSpPr txBox="1"/>
          <p:nvPr/>
        </p:nvSpPr>
        <p:spPr>
          <a:xfrm>
            <a:off x="8229600" y="4620390"/>
            <a:ext cx="30175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100" b="0" i="0">
                <a:solidFill>
                  <a:srgbClr val="475569"/>
                </a:solidFill>
                <a:latin typeface="Microsoft YaHei"/>
              </a:defRPr>
            </a:pPr>
            <a:r>
              <a:rPr sz="13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Connects different IP networks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665AA4-A932-ADEC-2F07-9BF70E808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098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66928"/>
            <a:ext cx="566928" cy="635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19" y="749808"/>
            <a:ext cx="10725911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50" b="1" dirty="0">
                <a:solidFill>
                  <a:srgbClr val="143C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Reference Models and the Layers We Focus On</a:t>
            </a:r>
            <a:endParaRPr sz="2900" b="1" dirty="0">
              <a:solidFill>
                <a:srgbClr val="143C6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4568" y="1257808"/>
            <a:ext cx="10725912" cy="1270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F3248BB-67D7-59AC-D471-4CB8BA2ABD5D}"/>
              </a:ext>
            </a:extLst>
          </p:cNvPr>
          <p:cNvSpPr txBox="1"/>
          <p:nvPr/>
        </p:nvSpPr>
        <p:spPr>
          <a:xfrm>
            <a:off x="1298448" y="1521597"/>
            <a:ext cx="2620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7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OSI 7-Layer Model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7319E49-0E2B-0725-6C13-C63B9BB040E7}"/>
              </a:ext>
            </a:extLst>
          </p:cNvPr>
          <p:cNvSpPr txBox="1"/>
          <p:nvPr/>
        </p:nvSpPr>
        <p:spPr>
          <a:xfrm>
            <a:off x="7186326" y="1521597"/>
            <a:ext cx="3948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7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TCP/IP 4-Layer Suite</a:t>
            </a:r>
          </a:p>
        </p:txBody>
      </p:sp>
      <p:sp>
        <p:nvSpPr>
          <p:cNvPr id="20" name="箭头: 左右 19">
            <a:extLst>
              <a:ext uri="{FF2B5EF4-FFF2-40B4-BE49-F238E27FC236}">
                <a16:creationId xmlns:a16="http://schemas.microsoft.com/office/drawing/2014/main" id="{C1C2B078-9E53-4814-3D3C-4F404BAD5F72}"/>
              </a:ext>
            </a:extLst>
          </p:cNvPr>
          <p:cNvSpPr/>
          <p:nvPr/>
        </p:nvSpPr>
        <p:spPr>
          <a:xfrm>
            <a:off x="3862879" y="2501345"/>
            <a:ext cx="3338482" cy="229581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7CD733E-41C0-B5E0-064A-24BBC85CAEC4}"/>
              </a:ext>
            </a:extLst>
          </p:cNvPr>
          <p:cNvSpPr txBox="1"/>
          <p:nvPr/>
        </p:nvSpPr>
        <p:spPr>
          <a:xfrm>
            <a:off x="1014984" y="5395063"/>
            <a:ext cx="97184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Data link layer: MAC addresses, Ethernet frames, Layer 2 switching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  <a:p>
            <a:endParaRPr lang="en-US" altLang="zh-CN" sz="2000" dirty="0">
              <a:latin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Network layer: IP addresses, routing, forwarding between subnets</a:t>
            </a:r>
            <a:endParaRPr lang="zh-CN" altLang="en-US" sz="2000" dirty="0">
              <a:latin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DBE35D2-D9DA-0984-380F-33F0410AFCDC}"/>
              </a:ext>
            </a:extLst>
          </p:cNvPr>
          <p:cNvSpPr txBox="1"/>
          <p:nvPr/>
        </p:nvSpPr>
        <p:spPr>
          <a:xfrm>
            <a:off x="1572246" y="2092450"/>
            <a:ext cx="2759217" cy="2408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Application</a:t>
            </a:r>
            <a:endParaRPr lang="en-US" altLang="zh-CN" sz="2400" dirty="0">
              <a:latin typeface="微软雅黑" panose="020B0503020204020204" pitchFamily="34" charset="-122"/>
            </a:endParaRPr>
          </a:p>
          <a:p>
            <a:r>
              <a:rPr lang="zh-CN" altLang="en-US" sz="21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Presentation</a:t>
            </a:r>
            <a:endParaRPr lang="en-US" altLang="zh-CN" sz="2400" dirty="0">
              <a:latin typeface="微软雅黑" panose="020B0503020204020204" pitchFamily="34" charset="-122"/>
            </a:endParaRPr>
          </a:p>
          <a:p>
            <a:r>
              <a:rPr lang="zh-CN" altLang="en-US" sz="21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Session</a:t>
            </a:r>
            <a:endParaRPr lang="en-US" altLang="zh-CN" sz="2400" dirty="0">
              <a:latin typeface="微软雅黑" panose="020B0503020204020204" pitchFamily="34" charset="-122"/>
            </a:endParaRPr>
          </a:p>
          <a:p>
            <a:r>
              <a:rPr lang="zh-CN" altLang="en-US" sz="21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Transport</a:t>
            </a:r>
            <a:endParaRPr lang="en-US" altLang="zh-CN" sz="2400" dirty="0">
              <a:latin typeface="微软雅黑" panose="020B0503020204020204" pitchFamily="34" charset="-122"/>
            </a:endParaRPr>
          </a:p>
          <a:p>
            <a:r>
              <a:rPr lang="zh-CN" altLang="en-US" sz="21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Network</a:t>
            </a:r>
            <a:endParaRPr lang="en-US" altLang="zh-CN" sz="2400" dirty="0">
              <a:latin typeface="微软雅黑" panose="020B0503020204020204" pitchFamily="34" charset="-122"/>
            </a:endParaRPr>
          </a:p>
          <a:p>
            <a:r>
              <a:rPr lang="zh-CN" altLang="en-US" sz="21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Data Link</a:t>
            </a:r>
            <a:endParaRPr lang="en-US" altLang="zh-CN" sz="2400" dirty="0">
              <a:latin typeface="微软雅黑" panose="020B0503020204020204" pitchFamily="34" charset="-122"/>
            </a:endParaRPr>
          </a:p>
          <a:p>
            <a:r>
              <a:rPr lang="zh-CN" altLang="en-US" sz="21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Physical </a:t>
            </a:r>
          </a:p>
        </p:txBody>
      </p:sp>
      <p:sp>
        <p:nvSpPr>
          <p:cNvPr id="7" name="右大括号 6">
            <a:extLst>
              <a:ext uri="{FF2B5EF4-FFF2-40B4-BE49-F238E27FC236}">
                <a16:creationId xmlns:a16="http://schemas.microsoft.com/office/drawing/2014/main" id="{F9045A46-F79E-A4B8-C961-CF0AA1D86491}"/>
              </a:ext>
            </a:extLst>
          </p:cNvPr>
          <p:cNvSpPr/>
          <p:nvPr/>
        </p:nvSpPr>
        <p:spPr>
          <a:xfrm>
            <a:off x="3350757" y="2246110"/>
            <a:ext cx="177971" cy="77325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9" name="右大括号 8">
            <a:extLst>
              <a:ext uri="{FF2B5EF4-FFF2-40B4-BE49-F238E27FC236}">
                <a16:creationId xmlns:a16="http://schemas.microsoft.com/office/drawing/2014/main" id="{561C189F-D486-D3C4-3998-69EB6D0012B6}"/>
              </a:ext>
            </a:extLst>
          </p:cNvPr>
          <p:cNvSpPr/>
          <p:nvPr/>
        </p:nvSpPr>
        <p:spPr>
          <a:xfrm>
            <a:off x="3347684" y="3872322"/>
            <a:ext cx="177971" cy="488712"/>
          </a:xfrm>
          <a:prstGeom prst="rightBrace">
            <a:avLst>
              <a:gd name="adj1" fmla="val 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11" name="箭头: 左右 10">
            <a:extLst>
              <a:ext uri="{FF2B5EF4-FFF2-40B4-BE49-F238E27FC236}">
                <a16:creationId xmlns:a16="http://schemas.microsoft.com/office/drawing/2014/main" id="{68DD8069-13D3-2DE9-2267-93FC25C01B00}"/>
              </a:ext>
            </a:extLst>
          </p:cNvPr>
          <p:cNvSpPr/>
          <p:nvPr/>
        </p:nvSpPr>
        <p:spPr>
          <a:xfrm>
            <a:off x="3862879" y="3165637"/>
            <a:ext cx="3338482" cy="229581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13" name="箭头: 左右 12">
            <a:extLst>
              <a:ext uri="{FF2B5EF4-FFF2-40B4-BE49-F238E27FC236}">
                <a16:creationId xmlns:a16="http://schemas.microsoft.com/office/drawing/2014/main" id="{3D68DD59-377F-C973-7A49-90557918F80F}"/>
              </a:ext>
            </a:extLst>
          </p:cNvPr>
          <p:cNvSpPr/>
          <p:nvPr/>
        </p:nvSpPr>
        <p:spPr>
          <a:xfrm>
            <a:off x="3862879" y="3508639"/>
            <a:ext cx="3338482" cy="229581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15" name="箭头: 左右 14">
            <a:extLst>
              <a:ext uri="{FF2B5EF4-FFF2-40B4-BE49-F238E27FC236}">
                <a16:creationId xmlns:a16="http://schemas.microsoft.com/office/drawing/2014/main" id="{FB5D0BA0-CC33-6AA4-58A3-699F30EC1F2C}"/>
              </a:ext>
            </a:extLst>
          </p:cNvPr>
          <p:cNvSpPr/>
          <p:nvPr/>
        </p:nvSpPr>
        <p:spPr>
          <a:xfrm>
            <a:off x="3847844" y="4213974"/>
            <a:ext cx="3338482" cy="229581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55D4EC7-2681-2468-0898-912CE33C9F49}"/>
              </a:ext>
            </a:extLst>
          </p:cNvPr>
          <p:cNvSpPr txBox="1"/>
          <p:nvPr/>
        </p:nvSpPr>
        <p:spPr>
          <a:xfrm>
            <a:off x="7597498" y="2437886"/>
            <a:ext cx="2282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Application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ABF3B6B-8645-D6B6-F129-D78D51D5CF64}"/>
              </a:ext>
            </a:extLst>
          </p:cNvPr>
          <p:cNvSpPr txBox="1"/>
          <p:nvPr/>
        </p:nvSpPr>
        <p:spPr>
          <a:xfrm>
            <a:off x="7597498" y="3098306"/>
            <a:ext cx="2282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Transport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C6B0D29-146A-1AF0-B613-B41F394A9847}"/>
              </a:ext>
            </a:extLst>
          </p:cNvPr>
          <p:cNvSpPr txBox="1"/>
          <p:nvPr/>
        </p:nvSpPr>
        <p:spPr>
          <a:xfrm>
            <a:off x="7597498" y="3440022"/>
            <a:ext cx="2282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Internet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FCDFBB4-6D43-D5BF-E763-F0ECD1DEF575}"/>
              </a:ext>
            </a:extLst>
          </p:cNvPr>
          <p:cNvSpPr txBox="1"/>
          <p:nvPr/>
        </p:nvSpPr>
        <p:spPr>
          <a:xfrm>
            <a:off x="7597498" y="4148137"/>
            <a:ext cx="2282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Network Interface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F0FC1E-64C0-2DA6-9AC4-BB805D52B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82383-0BD4-67B9-20D7-CE25A5DA1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1BB6C2-43AD-E308-6469-3379779025F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350AD2-5F8F-ED04-F088-629182E23ADC}"/>
              </a:ext>
            </a:extLst>
          </p:cNvPr>
          <p:cNvSpPr/>
          <p:nvPr/>
        </p:nvSpPr>
        <p:spPr>
          <a:xfrm>
            <a:off x="1234440" y="2331720"/>
            <a:ext cx="777240" cy="762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4D7955-D2FD-66BF-25C4-81580C4D812F}"/>
              </a:ext>
            </a:extLst>
          </p:cNvPr>
          <p:cNvSpPr txBox="1"/>
          <p:nvPr/>
        </p:nvSpPr>
        <p:spPr>
          <a:xfrm>
            <a:off x="1234440" y="2697480"/>
            <a:ext cx="822960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1F9E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0</a:t>
            </a:r>
            <a:r>
              <a:rPr lang="en-US" sz="2400" b="1" dirty="0">
                <a:solidFill>
                  <a:srgbClr val="1F9E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2</a:t>
            </a:r>
            <a:endParaRPr sz="2400" b="1" dirty="0">
              <a:solidFill>
                <a:srgbClr val="1F9E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4FC658-FA53-927A-0D80-CB0BE0EF5054}"/>
              </a:ext>
            </a:extLst>
          </p:cNvPr>
          <p:cNvSpPr txBox="1"/>
          <p:nvPr/>
        </p:nvSpPr>
        <p:spPr>
          <a:xfrm>
            <a:off x="1234439" y="3127248"/>
            <a:ext cx="10726403" cy="6548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 dirty="0">
                <a:solidFill>
                  <a:srgbClr val="143C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IPv4 Addressing and the Default Gateway</a:t>
            </a:r>
            <a:endParaRPr sz="3200" b="1" dirty="0">
              <a:solidFill>
                <a:srgbClr val="143C6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31550F-7C9B-8FE8-7BF9-B4A0CC85E1BF}"/>
              </a:ext>
            </a:extLst>
          </p:cNvPr>
          <p:cNvSpPr txBox="1"/>
          <p:nvPr/>
        </p:nvSpPr>
        <p:spPr>
          <a:xfrm>
            <a:off x="1166934" y="4297680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sz="1300" b="0" dirty="0">
              <a:solidFill>
                <a:srgbClr val="8A94A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CB8EA4-73C7-ACA8-7CDC-45DEC9DCF9A7}"/>
              </a:ext>
            </a:extLst>
          </p:cNvPr>
          <p:cNvSpPr/>
          <p:nvPr/>
        </p:nvSpPr>
        <p:spPr>
          <a:xfrm>
            <a:off x="1234440" y="3947160"/>
            <a:ext cx="4206240" cy="1270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A6E3BD40-6FBE-E97A-FE2E-A351A98E4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602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66928"/>
            <a:ext cx="566928" cy="635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960120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zh-CN" sz="3250" b="1" dirty="0">
                <a:solidFill>
                  <a:srgbClr val="143C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IPv4 Addressing and Subnet Masks</a:t>
            </a:r>
            <a:endParaRPr sz="2900" b="1" dirty="0">
              <a:solidFill>
                <a:srgbClr val="143C6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430360"/>
            <a:ext cx="338619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IPv4 Example</a:t>
            </a:r>
            <a:endParaRPr sz="2000" b="0" dirty="0"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4568" y="1282492"/>
            <a:ext cx="10725912" cy="1270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784260-8233-EBA0-DC5E-77716B280EF8}"/>
              </a:ext>
            </a:extLst>
          </p:cNvPr>
          <p:cNvSpPr txBox="1"/>
          <p:nvPr/>
        </p:nvSpPr>
        <p:spPr>
          <a:xfrm>
            <a:off x="1679359" y="1785268"/>
            <a:ext cx="88332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192.168.1.10</a:t>
            </a:r>
            <a:endParaRPr lang="zh-CN" altLang="en-US" sz="6000" dirty="0">
              <a:solidFill>
                <a:schemeClr val="accent5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B503ABE-2105-03BF-110B-53B0D2AE28B1}"/>
              </a:ext>
            </a:extLst>
          </p:cNvPr>
          <p:cNvSpPr txBox="1"/>
          <p:nvPr/>
        </p:nvSpPr>
        <p:spPr>
          <a:xfrm>
            <a:off x="1679359" y="2838661"/>
            <a:ext cx="155359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192</a:t>
            </a:r>
          </a:p>
          <a:p>
            <a:pPr algn="ctr"/>
            <a:r>
              <a:rPr lang="zh-CN" altLang="en-US" sz="16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first byte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64C32FB-5E31-8ABC-7E48-819F4B5A32EC}"/>
              </a:ext>
            </a:extLst>
          </p:cNvPr>
          <p:cNvSpPr txBox="1"/>
          <p:nvPr/>
        </p:nvSpPr>
        <p:spPr>
          <a:xfrm>
            <a:off x="3690151" y="2838661"/>
            <a:ext cx="155359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168</a:t>
            </a:r>
          </a:p>
          <a:p>
            <a:pPr algn="ctr"/>
            <a:r>
              <a:rPr lang="zh-CN" altLang="en-US" sz="16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second byte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67E54FC-101E-F309-9FAC-9C695F3F0DEB}"/>
              </a:ext>
            </a:extLst>
          </p:cNvPr>
          <p:cNvSpPr txBox="1"/>
          <p:nvPr/>
        </p:nvSpPr>
        <p:spPr>
          <a:xfrm>
            <a:off x="8482613" y="2836441"/>
            <a:ext cx="155359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10</a:t>
            </a:r>
          </a:p>
          <a:p>
            <a:pPr algn="ctr"/>
            <a:r>
              <a:rPr lang="zh-CN" altLang="en-US" sz="16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fourth byte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52B82F2-C39F-5003-3BBC-13F5AB0A1912}"/>
              </a:ext>
            </a:extLst>
          </p:cNvPr>
          <p:cNvSpPr txBox="1"/>
          <p:nvPr/>
        </p:nvSpPr>
        <p:spPr>
          <a:xfrm>
            <a:off x="5989467" y="2836442"/>
            <a:ext cx="155359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1</a:t>
            </a:r>
          </a:p>
          <a:p>
            <a:pPr algn="ctr"/>
            <a:r>
              <a:rPr lang="zh-CN" altLang="en-US" sz="16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third byte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68076F3-0CFB-62F4-3FCA-A2123575DB3C}"/>
              </a:ext>
            </a:extLst>
          </p:cNvPr>
          <p:cNvSpPr txBox="1"/>
          <p:nvPr/>
        </p:nvSpPr>
        <p:spPr>
          <a:xfrm>
            <a:off x="3690151" y="3560263"/>
            <a:ext cx="5717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7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32 bits = 4 bytes, each byte holding 8 bits</a:t>
            </a:r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B8FE3A9-9D8A-FF65-3988-C5DB02B5DC7D}"/>
              </a:ext>
            </a:extLst>
          </p:cNvPr>
          <p:cNvSpPr txBox="1"/>
          <p:nvPr/>
        </p:nvSpPr>
        <p:spPr>
          <a:xfrm>
            <a:off x="1589103" y="4959170"/>
            <a:ext cx="8352338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zh-CN" sz="16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An IPv4 address is 32 bits long in total.</a:t>
            </a:r>
          </a:p>
          <a:p>
            <a:pPr lvl="0"/>
            <a:r>
              <a:rPr lang="zh-CN" altLang="zh-CN" sz="16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It is normally written in dotted-decimal notation.</a:t>
            </a:r>
          </a:p>
          <a:p>
            <a:pPr lvl="0"/>
            <a:r>
              <a:rPr lang="zh-CN" altLang="zh-CN" sz="16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Each decimal number stands for 8 bits, ranging from 0 to 255.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0B657B-42B8-4D2B-EA2F-98D5975D004B}"/>
              </a:ext>
            </a:extLst>
          </p:cNvPr>
          <p:cNvSpPr txBox="1"/>
          <p:nvPr/>
        </p:nvSpPr>
        <p:spPr>
          <a:xfrm>
            <a:off x="1589103" y="4038087"/>
            <a:ext cx="94294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3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In binary: 11000000.10101000.00000001.00001010</a:t>
            </a:r>
            <a:endParaRPr lang="zh-CN" altLang="en-US" sz="2400" dirty="0">
              <a:latin typeface="微软雅黑" panose="020B0503020204020204" pitchFamily="34" charset="-122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50388F-0C32-0F75-7C6F-5CC84F592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8A958-64F7-4786-D0FE-18552C11B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648168-9929-CDE4-2CAC-3BAADB6D4BF4}"/>
              </a:ext>
            </a:extLst>
          </p:cNvPr>
          <p:cNvSpPr/>
          <p:nvPr/>
        </p:nvSpPr>
        <p:spPr>
          <a:xfrm>
            <a:off x="731520" y="566928"/>
            <a:ext cx="566928" cy="635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5C6D43-A6CB-3005-4821-4DE6F397D2F1}"/>
              </a:ext>
            </a:extLst>
          </p:cNvPr>
          <p:cNvSpPr txBox="1"/>
          <p:nvPr/>
        </p:nvSpPr>
        <p:spPr>
          <a:xfrm>
            <a:off x="731520" y="749808"/>
            <a:ext cx="960120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zh-CN" sz="3250" b="1" dirty="0">
                <a:solidFill>
                  <a:srgbClr val="143C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IPv4 Addressing and Subnet Masks</a:t>
            </a:r>
            <a:endParaRPr sz="2900" b="1" dirty="0">
              <a:solidFill>
                <a:srgbClr val="143C6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A5EBEF-C7C7-6BD5-FD1B-EAAACDE4AE95}"/>
              </a:ext>
            </a:extLst>
          </p:cNvPr>
          <p:cNvSpPr txBox="1"/>
          <p:nvPr/>
        </p:nvSpPr>
        <p:spPr>
          <a:xfrm>
            <a:off x="731520" y="1527556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950" b="0" dirty="0">
                <a:solidFill>
                  <a:srgbClr val="8A94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Subnet mask: separating the network part from the host part</a:t>
            </a:r>
            <a:endParaRPr b="0" dirty="0">
              <a:solidFill>
                <a:srgbClr val="8A94A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367A83-3E3B-E7C8-DF76-C28D950B3D35}"/>
              </a:ext>
            </a:extLst>
          </p:cNvPr>
          <p:cNvSpPr/>
          <p:nvPr/>
        </p:nvSpPr>
        <p:spPr>
          <a:xfrm>
            <a:off x="734568" y="1282492"/>
            <a:ext cx="10725912" cy="1270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189625E-0D79-D446-3C6E-02F76946198E}"/>
              </a:ext>
            </a:extLst>
          </p:cNvPr>
          <p:cNvSpPr txBox="1"/>
          <p:nvPr/>
        </p:nvSpPr>
        <p:spPr>
          <a:xfrm>
            <a:off x="621437" y="2022230"/>
            <a:ext cx="7901126" cy="1746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1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IP: 192.168.1.10</a:t>
            </a:r>
          </a:p>
          <a:p>
            <a:r>
              <a:rPr lang="zh-CN" altLang="en-US" sz="21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Subnet mask: 255.255.255.0</a:t>
            </a:r>
          </a:p>
          <a:p>
            <a:r>
              <a:rPr lang="en-US" altLang="zh-CN" sz="21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CIDR notation: /24</a:t>
            </a:r>
          </a:p>
          <a:p>
            <a:r>
              <a:rPr lang="zh-CN" altLang="en-US" sz="21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Network address: 192.168.1.0</a:t>
            </a:r>
          </a:p>
          <a:p>
            <a:r>
              <a:rPr lang="zh-CN" altLang="en-US" sz="21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Host part: the last 8 bits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48FE816-E799-FD9E-6422-2435153A4EF0}"/>
              </a:ext>
            </a:extLst>
          </p:cNvPr>
          <p:cNvSpPr/>
          <p:nvPr/>
        </p:nvSpPr>
        <p:spPr>
          <a:xfrm>
            <a:off x="734568" y="4199138"/>
            <a:ext cx="2567925" cy="68171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C6D4318-2655-3F1B-305E-6BA1C4F28E4C}"/>
              </a:ext>
            </a:extLst>
          </p:cNvPr>
          <p:cNvSpPr/>
          <p:nvPr/>
        </p:nvSpPr>
        <p:spPr>
          <a:xfrm>
            <a:off x="3528075" y="4199138"/>
            <a:ext cx="2567925" cy="68171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1327465-04E5-AA60-12D7-F254A4A508B1}"/>
              </a:ext>
            </a:extLst>
          </p:cNvPr>
          <p:cNvSpPr/>
          <p:nvPr/>
        </p:nvSpPr>
        <p:spPr>
          <a:xfrm>
            <a:off x="6321584" y="4199138"/>
            <a:ext cx="2567925" cy="68171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C9ECB10-D178-7ECA-7725-088E44EE712E}"/>
              </a:ext>
            </a:extLst>
          </p:cNvPr>
          <p:cNvSpPr/>
          <p:nvPr/>
        </p:nvSpPr>
        <p:spPr>
          <a:xfrm>
            <a:off x="9115093" y="4199138"/>
            <a:ext cx="2567925" cy="68171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9FEC354-8A37-AC96-7A3A-DE59BBF60ADF}"/>
              </a:ext>
            </a:extLst>
          </p:cNvPr>
          <p:cNvSpPr txBox="1"/>
          <p:nvPr/>
        </p:nvSpPr>
        <p:spPr>
          <a:xfrm>
            <a:off x="953209" y="4355328"/>
            <a:ext cx="2130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192</a:t>
            </a:r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CAD5FBB-56BF-DD4A-CC49-A721746D810B}"/>
              </a:ext>
            </a:extLst>
          </p:cNvPr>
          <p:cNvSpPr txBox="1"/>
          <p:nvPr/>
        </p:nvSpPr>
        <p:spPr>
          <a:xfrm>
            <a:off x="3746716" y="4355328"/>
            <a:ext cx="2130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168</a:t>
            </a:r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E007BC3-8905-338C-EB65-1A899314D5EE}"/>
              </a:ext>
            </a:extLst>
          </p:cNvPr>
          <p:cNvSpPr txBox="1"/>
          <p:nvPr/>
        </p:nvSpPr>
        <p:spPr>
          <a:xfrm>
            <a:off x="6540225" y="4355328"/>
            <a:ext cx="2130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1</a:t>
            </a:r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0121489-F7E8-20DF-02C9-9F087A445B3B}"/>
              </a:ext>
            </a:extLst>
          </p:cNvPr>
          <p:cNvSpPr txBox="1"/>
          <p:nvPr/>
        </p:nvSpPr>
        <p:spPr>
          <a:xfrm>
            <a:off x="9267399" y="4355328"/>
            <a:ext cx="2130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10</a:t>
            </a:r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42EA92D-F11E-C10A-5717-5B62D2628D95}"/>
              </a:ext>
            </a:extLst>
          </p:cNvPr>
          <p:cNvSpPr txBox="1"/>
          <p:nvPr/>
        </p:nvSpPr>
        <p:spPr>
          <a:xfrm>
            <a:off x="9398491" y="5412084"/>
            <a:ext cx="2793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Host part: 8 bits</a:t>
            </a:r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756BF7A-29DC-6DF6-F9EF-1816AE6EDB5F}"/>
              </a:ext>
            </a:extLst>
          </p:cNvPr>
          <p:cNvSpPr txBox="1"/>
          <p:nvPr/>
        </p:nvSpPr>
        <p:spPr>
          <a:xfrm>
            <a:off x="3606832" y="5541146"/>
            <a:ext cx="2793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Network part: 24 bits</a:t>
            </a:r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6" name="右大括号 5">
            <a:extLst>
              <a:ext uri="{FF2B5EF4-FFF2-40B4-BE49-F238E27FC236}">
                <a16:creationId xmlns:a16="http://schemas.microsoft.com/office/drawing/2014/main" id="{B7FB7F67-C181-B4FC-DD88-3F6BFC000F8D}"/>
              </a:ext>
            </a:extLst>
          </p:cNvPr>
          <p:cNvSpPr/>
          <p:nvPr/>
        </p:nvSpPr>
        <p:spPr>
          <a:xfrm rot="5400000">
            <a:off x="4610951" y="2721974"/>
            <a:ext cx="402171" cy="4978048"/>
          </a:xfrm>
          <a:prstGeom prst="rightBrace">
            <a:avLst>
              <a:gd name="adj1" fmla="val 7394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FF5EED1-F426-415A-72A7-6D3063FC1687}"/>
              </a:ext>
            </a:extLst>
          </p:cNvPr>
          <p:cNvCxnSpPr>
            <a:cxnSpLocks/>
          </p:cNvCxnSpPr>
          <p:nvPr/>
        </p:nvCxnSpPr>
        <p:spPr>
          <a:xfrm flipH="1">
            <a:off x="10399054" y="4945381"/>
            <a:ext cx="1" cy="5312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4525799-CF45-4033-12AB-9B9DC984C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472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9A60B-2E12-E0A8-B508-AA12FCB56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D07A03-8B80-DD35-35B4-060F2AB0A9C9}"/>
              </a:ext>
            </a:extLst>
          </p:cNvPr>
          <p:cNvSpPr/>
          <p:nvPr/>
        </p:nvSpPr>
        <p:spPr>
          <a:xfrm>
            <a:off x="731520" y="566928"/>
            <a:ext cx="566928" cy="635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7FA57D-A5DB-0C67-AFA3-F3EAB2DE1F86}"/>
              </a:ext>
            </a:extLst>
          </p:cNvPr>
          <p:cNvSpPr txBox="1"/>
          <p:nvPr/>
        </p:nvSpPr>
        <p:spPr>
          <a:xfrm>
            <a:off x="731520" y="749808"/>
            <a:ext cx="960120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zh-CN" sz="3250" b="1" dirty="0">
                <a:solidFill>
                  <a:srgbClr val="143C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IPv4 Addressing and Subnet Masks</a:t>
            </a:r>
            <a:endParaRPr sz="2900" b="1" dirty="0">
              <a:solidFill>
                <a:srgbClr val="143C6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D5CE05-D522-0A95-1A81-151F941CCB19}"/>
              </a:ext>
            </a:extLst>
          </p:cNvPr>
          <p:cNvSpPr txBox="1"/>
          <p:nvPr/>
        </p:nvSpPr>
        <p:spPr>
          <a:xfrm>
            <a:off x="731520" y="2036900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Now that we know an IP address, how do we tell whether two addresses are on the same subnet?</a:t>
            </a:r>
            <a:endParaRPr sz="2000" b="0" dirty="0"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65F2DD-060E-8CC6-3E7D-C7D3298F8D7B}"/>
              </a:ext>
            </a:extLst>
          </p:cNvPr>
          <p:cNvSpPr/>
          <p:nvPr/>
        </p:nvSpPr>
        <p:spPr>
          <a:xfrm>
            <a:off x="734568" y="1282492"/>
            <a:ext cx="10725912" cy="1270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7411A43-6F67-97A5-822A-294BF9FD0D2E}"/>
              </a:ext>
            </a:extLst>
          </p:cNvPr>
          <p:cNvSpPr txBox="1"/>
          <p:nvPr/>
        </p:nvSpPr>
        <p:spPr>
          <a:xfrm>
            <a:off x="731520" y="3758807"/>
            <a:ext cx="4772635" cy="1823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1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A: 192.168.1.10/24</a:t>
            </a:r>
          </a:p>
          <a:p>
            <a:r>
              <a:rPr lang="en-US" altLang="zh-CN" sz="31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B: 192.168.1.20/24</a:t>
            </a:r>
            <a:endParaRPr lang="zh-CN" altLang="en-US" sz="4000" dirty="0">
              <a:latin typeface="微软雅黑" panose="020B0503020204020204" pitchFamily="34" charset="-122"/>
            </a:endParaRPr>
          </a:p>
          <a:p>
            <a:r>
              <a:rPr lang="en-US" altLang="zh-CN" sz="31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C: 192.168.2.20/24</a:t>
            </a:r>
            <a:endParaRPr lang="zh-CN" altLang="en-US" sz="4000" dirty="0">
              <a:latin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EBE505C-CDF0-F7AF-E179-2592691963B5}"/>
              </a:ext>
            </a:extLst>
          </p:cNvPr>
          <p:cNvSpPr txBox="1"/>
          <p:nvPr/>
        </p:nvSpPr>
        <p:spPr>
          <a:xfrm>
            <a:off x="731520" y="2820088"/>
            <a:ext cx="938211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7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Question:</a:t>
            </a:r>
          </a:p>
          <a:p>
            <a:r>
              <a:rPr lang="en-US" altLang="zh-CN" sz="27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Are A and B, A and C on the same subnet?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31989E-941E-9BB4-11AF-8DBC40DD2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970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9AE28-C91C-90CA-F606-FB0406532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C3F2EC6-09C2-8C13-F0C7-AEF2369205F4}"/>
              </a:ext>
            </a:extLst>
          </p:cNvPr>
          <p:cNvSpPr/>
          <p:nvPr/>
        </p:nvSpPr>
        <p:spPr>
          <a:xfrm>
            <a:off x="533401" y="1442998"/>
            <a:ext cx="5452110" cy="4971481"/>
          </a:xfrm>
          <a:prstGeom prst="roundRect">
            <a:avLst>
              <a:gd name="adj" fmla="val 29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4697705-DDC9-6F9B-296B-1CC27F847410}"/>
              </a:ext>
            </a:extLst>
          </p:cNvPr>
          <p:cNvSpPr/>
          <p:nvPr/>
        </p:nvSpPr>
        <p:spPr>
          <a:xfrm>
            <a:off x="6206490" y="1466850"/>
            <a:ext cx="5452110" cy="4972050"/>
          </a:xfrm>
          <a:prstGeom prst="roundRect">
            <a:avLst>
              <a:gd name="adj" fmla="val 29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9506528-E956-5BEE-3B79-61A0ECC59CB5}"/>
              </a:ext>
            </a:extLst>
          </p:cNvPr>
          <p:cNvSpPr/>
          <p:nvPr/>
        </p:nvSpPr>
        <p:spPr>
          <a:xfrm>
            <a:off x="768048" y="3524350"/>
            <a:ext cx="4975527" cy="590450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E3CC067-CF8E-F21B-E3CB-A5B7918C1CD7}"/>
              </a:ext>
            </a:extLst>
          </p:cNvPr>
          <p:cNvSpPr/>
          <p:nvPr/>
        </p:nvSpPr>
        <p:spPr>
          <a:xfrm>
            <a:off x="768048" y="4219675"/>
            <a:ext cx="4975527" cy="590450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E27A65D-0C6F-8C58-7C9A-E2FBF92EB3C3}"/>
              </a:ext>
            </a:extLst>
          </p:cNvPr>
          <p:cNvSpPr/>
          <p:nvPr/>
        </p:nvSpPr>
        <p:spPr>
          <a:xfrm>
            <a:off x="768048" y="4915000"/>
            <a:ext cx="4975527" cy="590450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A298377-0C46-6FEB-FFD1-9F2457D7C71B}"/>
              </a:ext>
            </a:extLst>
          </p:cNvPr>
          <p:cNvSpPr/>
          <p:nvPr/>
        </p:nvSpPr>
        <p:spPr>
          <a:xfrm>
            <a:off x="768048" y="5610325"/>
            <a:ext cx="4975527" cy="590450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07E23A5-AFF9-9564-C6E4-98220726E713}"/>
              </a:ext>
            </a:extLst>
          </p:cNvPr>
          <p:cNvSpPr/>
          <p:nvPr/>
        </p:nvSpPr>
        <p:spPr>
          <a:xfrm>
            <a:off x="6444948" y="3524350"/>
            <a:ext cx="4975527" cy="590450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677A769-3CB3-526D-6DDA-D936C35A2A8A}"/>
              </a:ext>
            </a:extLst>
          </p:cNvPr>
          <p:cNvSpPr/>
          <p:nvPr/>
        </p:nvSpPr>
        <p:spPr>
          <a:xfrm>
            <a:off x="6444948" y="4219675"/>
            <a:ext cx="4975527" cy="590450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436BFB1-DF74-3C13-5E58-EB5FDFBB619F}"/>
              </a:ext>
            </a:extLst>
          </p:cNvPr>
          <p:cNvSpPr/>
          <p:nvPr/>
        </p:nvSpPr>
        <p:spPr>
          <a:xfrm>
            <a:off x="6444948" y="4915000"/>
            <a:ext cx="4975527" cy="590450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0D83862-65EF-F73B-B49C-D4ABA973B296}"/>
              </a:ext>
            </a:extLst>
          </p:cNvPr>
          <p:cNvSpPr/>
          <p:nvPr/>
        </p:nvSpPr>
        <p:spPr>
          <a:xfrm>
            <a:off x="6444948" y="5610325"/>
            <a:ext cx="4975527" cy="590450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1FD752A-D596-0166-6628-64F63DC6FE85}"/>
              </a:ext>
            </a:extLst>
          </p:cNvPr>
          <p:cNvSpPr/>
          <p:nvPr/>
        </p:nvSpPr>
        <p:spPr>
          <a:xfrm>
            <a:off x="4639506" y="1580207"/>
            <a:ext cx="1104070" cy="234305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612577-C507-1393-6230-65514F5B3DFD}"/>
              </a:ext>
            </a:extLst>
          </p:cNvPr>
          <p:cNvSpPr/>
          <p:nvPr/>
        </p:nvSpPr>
        <p:spPr>
          <a:xfrm>
            <a:off x="763906" y="3524350"/>
            <a:ext cx="45719" cy="59045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0A8626-39B1-3F6C-AE4C-32122D4EFD7D}"/>
              </a:ext>
            </a:extLst>
          </p:cNvPr>
          <p:cNvSpPr/>
          <p:nvPr/>
        </p:nvSpPr>
        <p:spPr>
          <a:xfrm>
            <a:off x="763906" y="4219675"/>
            <a:ext cx="45719" cy="59045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E98C3A-A5A4-BACD-2B07-8365003E73D0}"/>
              </a:ext>
            </a:extLst>
          </p:cNvPr>
          <p:cNvSpPr/>
          <p:nvPr/>
        </p:nvSpPr>
        <p:spPr>
          <a:xfrm>
            <a:off x="763906" y="4915000"/>
            <a:ext cx="45719" cy="59045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5AAF90-E917-9029-8028-2369CCA59734}"/>
              </a:ext>
            </a:extLst>
          </p:cNvPr>
          <p:cNvSpPr/>
          <p:nvPr/>
        </p:nvSpPr>
        <p:spPr>
          <a:xfrm>
            <a:off x="763906" y="5610325"/>
            <a:ext cx="45719" cy="59045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7B323BA-3DE0-C172-17E2-1F6457286D5A}"/>
              </a:ext>
            </a:extLst>
          </p:cNvPr>
          <p:cNvSpPr/>
          <p:nvPr/>
        </p:nvSpPr>
        <p:spPr>
          <a:xfrm>
            <a:off x="10600752" y="1580207"/>
            <a:ext cx="819723" cy="234305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1C4C14-2C5F-AD97-9DD8-66EBA4318203}"/>
              </a:ext>
            </a:extLst>
          </p:cNvPr>
          <p:cNvSpPr/>
          <p:nvPr/>
        </p:nvSpPr>
        <p:spPr>
          <a:xfrm>
            <a:off x="6440806" y="3524350"/>
            <a:ext cx="45719" cy="59045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7D0AD4-9C02-4DB3-049E-1984EDE69D05}"/>
              </a:ext>
            </a:extLst>
          </p:cNvPr>
          <p:cNvSpPr/>
          <p:nvPr/>
        </p:nvSpPr>
        <p:spPr>
          <a:xfrm>
            <a:off x="6440806" y="4219675"/>
            <a:ext cx="45719" cy="59045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0D04D1-E944-868A-C5B6-F17FD0E00CD6}"/>
              </a:ext>
            </a:extLst>
          </p:cNvPr>
          <p:cNvSpPr/>
          <p:nvPr/>
        </p:nvSpPr>
        <p:spPr>
          <a:xfrm>
            <a:off x="6440806" y="4915000"/>
            <a:ext cx="45719" cy="59045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D3295FC-3AD9-5023-0FF4-701592D0B5B9}"/>
              </a:ext>
            </a:extLst>
          </p:cNvPr>
          <p:cNvSpPr/>
          <p:nvPr/>
        </p:nvSpPr>
        <p:spPr>
          <a:xfrm>
            <a:off x="6440806" y="5610325"/>
            <a:ext cx="45719" cy="59045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21B678CC-6478-2745-B2CA-C2BE7AA4B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40" y="2026177"/>
            <a:ext cx="4975527" cy="1086609"/>
          </a:xfrm>
          <a:prstGeom prst="rect">
            <a:avLst/>
          </a:prstGeom>
        </p:spPr>
      </p:pic>
      <p:pic>
        <p:nvPicPr>
          <p:cNvPr id="24" name="Picture 23" descr="image.png">
            <a:extLst>
              <a:ext uri="{FF2B5EF4-FFF2-40B4-BE49-F238E27FC236}">
                <a16:creationId xmlns:a16="http://schemas.microsoft.com/office/drawing/2014/main" id="{6C8023E3-5CE2-3446-09FC-AF1F5C8FF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948" y="2018541"/>
            <a:ext cx="4975527" cy="1086609"/>
          </a:xfrm>
          <a:prstGeom prst="rect">
            <a:avLst/>
          </a:prstGeom>
        </p:spPr>
      </p:pic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CD61403B-6DAB-EEF3-9E1D-E1B9E9B9E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200" y="2170951"/>
            <a:ext cx="4651450" cy="762533"/>
          </a:xfrm>
          <a:prstGeom prst="rect">
            <a:avLst/>
          </a:prstGeom>
        </p:spPr>
      </p:pic>
      <p:pic>
        <p:nvPicPr>
          <p:cNvPr id="26" name="Picture 25" descr="image.png">
            <a:extLst>
              <a:ext uri="{FF2B5EF4-FFF2-40B4-BE49-F238E27FC236}">
                <a16:creationId xmlns:a16="http://schemas.microsoft.com/office/drawing/2014/main" id="{BE00B351-4707-2F88-630C-DD3996C600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7100" y="2161642"/>
            <a:ext cx="4651450" cy="762533"/>
          </a:xfrm>
          <a:prstGeom prst="rect">
            <a:avLst/>
          </a:prstGeom>
        </p:spPr>
      </p:pic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046C1380-A2B3-ED0C-C386-5F70797CA9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285" y="1523760"/>
            <a:ext cx="343140" cy="343140"/>
          </a:xfrm>
          <a:prstGeom prst="rect">
            <a:avLst/>
          </a:prstGeom>
        </p:spPr>
      </p:pic>
      <p:pic>
        <p:nvPicPr>
          <p:cNvPr id="28" name="Picture 27" descr="image.png">
            <a:extLst>
              <a:ext uri="{FF2B5EF4-FFF2-40B4-BE49-F238E27FC236}">
                <a16:creationId xmlns:a16="http://schemas.microsoft.com/office/drawing/2014/main" id="{3266C2F2-CE49-F94F-2B55-A7478DFEFC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8185" y="1523760"/>
            <a:ext cx="343140" cy="343140"/>
          </a:xfrm>
          <a:prstGeom prst="rect">
            <a:avLst/>
          </a:prstGeom>
        </p:spPr>
      </p:pic>
      <p:pic>
        <p:nvPicPr>
          <p:cNvPr id="29" name="Picture 28" descr="image.png">
            <a:extLst>
              <a:ext uri="{FF2B5EF4-FFF2-40B4-BE49-F238E27FC236}">
                <a16:creationId xmlns:a16="http://schemas.microsoft.com/office/drawing/2014/main" id="{DCCE3B1C-A193-3AE3-7C3A-3F58EC5736C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285" y="1609605"/>
            <a:ext cx="219228" cy="171570"/>
          </a:xfrm>
          <a:prstGeom prst="rect">
            <a:avLst/>
          </a:prstGeom>
        </p:spPr>
      </p:pic>
      <p:pic>
        <p:nvPicPr>
          <p:cNvPr id="30" name="Picture 29" descr="image.png">
            <a:extLst>
              <a:ext uri="{FF2B5EF4-FFF2-40B4-BE49-F238E27FC236}">
                <a16:creationId xmlns:a16="http://schemas.microsoft.com/office/drawing/2014/main" id="{A7A105FB-489C-CEBB-DC52-3E9BF8BE771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4030" y="1609605"/>
            <a:ext cx="171570" cy="17157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BD967EA-F72C-61D1-AB7B-401C91058362}"/>
              </a:ext>
            </a:extLst>
          </p:cNvPr>
          <p:cNvSpPr txBox="1"/>
          <p:nvPr/>
        </p:nvSpPr>
        <p:spPr>
          <a:xfrm>
            <a:off x="4690325" y="1617084"/>
            <a:ext cx="10532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1665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L2 Local Segment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5673EA9-37C6-3B53-4AF6-ECC95B3517CC}"/>
              </a:ext>
            </a:extLst>
          </p:cNvPr>
          <p:cNvSpPr txBox="1"/>
          <p:nvPr/>
        </p:nvSpPr>
        <p:spPr>
          <a:xfrm>
            <a:off x="957979" y="3631622"/>
            <a:ext cx="5790483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Destination check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AA8E99-F3E9-0076-D83B-3A674BE0503E}"/>
              </a:ext>
            </a:extLst>
          </p:cNvPr>
          <p:cNvSpPr txBox="1"/>
          <p:nvPr/>
        </p:nvSpPr>
        <p:spPr>
          <a:xfrm>
            <a:off x="957979" y="3813056"/>
            <a:ext cx="5790483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Destination IP is in the local subnet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BDBE888-BBD5-C988-A25F-14211E673EE2}"/>
              </a:ext>
            </a:extLst>
          </p:cNvPr>
          <p:cNvSpPr txBox="1"/>
          <p:nvPr/>
        </p:nvSpPr>
        <p:spPr>
          <a:xfrm>
            <a:off x="957979" y="4326947"/>
            <a:ext cx="5790483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Next delivery target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650F8C-E8A0-C42C-542B-AB65BA302B23}"/>
              </a:ext>
            </a:extLst>
          </p:cNvPr>
          <p:cNvSpPr txBox="1"/>
          <p:nvPr/>
        </p:nvSpPr>
        <p:spPr>
          <a:xfrm>
            <a:off x="957979" y="4508381"/>
            <a:ext cx="5790483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Destination host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2624EC-55D1-4384-8298-E4CC407F2A53}"/>
              </a:ext>
            </a:extLst>
          </p:cNvPr>
          <p:cNvSpPr txBox="1"/>
          <p:nvPr/>
        </p:nvSpPr>
        <p:spPr>
          <a:xfrm>
            <a:off x="957979" y="5022272"/>
            <a:ext cx="5790483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Destination MAC of the local frame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840E86B-5930-6B59-7274-A8375E72FFF7}"/>
              </a:ext>
            </a:extLst>
          </p:cNvPr>
          <p:cNvSpPr txBox="1"/>
          <p:nvPr/>
        </p:nvSpPr>
        <p:spPr>
          <a:xfrm>
            <a:off x="957979" y="5203706"/>
            <a:ext cx="5790483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Destination host MAC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5029E8A-AFCD-B586-161E-2F9D8E369217}"/>
              </a:ext>
            </a:extLst>
          </p:cNvPr>
          <p:cNvSpPr txBox="1"/>
          <p:nvPr/>
        </p:nvSpPr>
        <p:spPr>
          <a:xfrm>
            <a:off x="957979" y="5717597"/>
            <a:ext cx="5790483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Routing needed?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779305E-2092-53E5-5FA9-DC2B2497BD23}"/>
              </a:ext>
            </a:extLst>
          </p:cNvPr>
          <p:cNvSpPr txBox="1"/>
          <p:nvPr/>
        </p:nvSpPr>
        <p:spPr>
          <a:xfrm>
            <a:off x="957979" y="5899031"/>
            <a:ext cx="5790483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u="none" dirty="0">
                <a:solidFill>
                  <a:srgbClr val="1665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No Layer 3 routing required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865C36A-AF2C-1B47-E241-99A1BDF1FE41}"/>
              </a:ext>
            </a:extLst>
          </p:cNvPr>
          <p:cNvSpPr txBox="1"/>
          <p:nvPr/>
        </p:nvSpPr>
        <p:spPr>
          <a:xfrm>
            <a:off x="10696069" y="1617084"/>
            <a:ext cx="724406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3730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L3 Gateway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D6091B1-CACE-7D50-C882-11AC5ADFD473}"/>
              </a:ext>
            </a:extLst>
          </p:cNvPr>
          <p:cNvSpPr txBox="1"/>
          <p:nvPr/>
        </p:nvSpPr>
        <p:spPr>
          <a:xfrm>
            <a:off x="6638925" y="3629025"/>
            <a:ext cx="1160574" cy="1554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0" b="1" i="0" u="none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Destination check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6FF4F2-53BF-3255-D84C-FC408CA9F5CA}"/>
              </a:ext>
            </a:extLst>
          </p:cNvPr>
          <p:cNvSpPr txBox="1"/>
          <p:nvPr/>
        </p:nvSpPr>
        <p:spPr>
          <a:xfrm>
            <a:off x="6638925" y="3810000"/>
            <a:ext cx="3327834" cy="1938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60" b="1" i="0" u="none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Destination IP is outside the local subnet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892D77C-57B0-451B-AD9F-DA33BE4763AD}"/>
              </a:ext>
            </a:extLst>
          </p:cNvPr>
          <p:cNvSpPr txBox="1"/>
          <p:nvPr/>
        </p:nvSpPr>
        <p:spPr>
          <a:xfrm>
            <a:off x="6638925" y="4324350"/>
            <a:ext cx="1306448" cy="1554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0" b="1" i="0" u="none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Next delivery target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42A2798-BAE4-7232-F702-2EFE544EE9FC}"/>
              </a:ext>
            </a:extLst>
          </p:cNvPr>
          <p:cNvSpPr txBox="1"/>
          <p:nvPr/>
        </p:nvSpPr>
        <p:spPr>
          <a:xfrm>
            <a:off x="6638925" y="4505325"/>
            <a:ext cx="2428229" cy="1938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60" b="1" i="0" u="none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Normally the default gateway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EAEFA31-F10C-4709-F48C-A2469E9B026B}"/>
              </a:ext>
            </a:extLst>
          </p:cNvPr>
          <p:cNvSpPr txBox="1"/>
          <p:nvPr/>
        </p:nvSpPr>
        <p:spPr>
          <a:xfrm>
            <a:off x="6638925" y="5019675"/>
            <a:ext cx="2300310" cy="1554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0" b="1" i="0" u="none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Destination MAC of the local frame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8D79D64-E8F9-55A6-B998-B3C7A8CF40CD}"/>
              </a:ext>
            </a:extLst>
          </p:cNvPr>
          <p:cNvSpPr txBox="1"/>
          <p:nvPr/>
        </p:nvSpPr>
        <p:spPr>
          <a:xfrm>
            <a:off x="6638925" y="5200650"/>
            <a:ext cx="1915781" cy="1938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60" b="1" i="0" u="none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Gateway interface MAC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272717C-4B37-2B02-4280-D4918E8394F2}"/>
              </a:ext>
            </a:extLst>
          </p:cNvPr>
          <p:cNvSpPr txBox="1"/>
          <p:nvPr/>
        </p:nvSpPr>
        <p:spPr>
          <a:xfrm>
            <a:off x="6638925" y="5715000"/>
            <a:ext cx="1101264" cy="1554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0" b="1" i="0" u="none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Routing needed?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BF0BEE-94B0-958C-BAD7-28DE7DBF872A}"/>
              </a:ext>
            </a:extLst>
          </p:cNvPr>
          <p:cNvSpPr txBox="1"/>
          <p:nvPr/>
        </p:nvSpPr>
        <p:spPr>
          <a:xfrm>
            <a:off x="6638925" y="5895975"/>
            <a:ext cx="1977273" cy="1938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60" b="1" i="0" u="none" dirty="0">
                <a:solidFill>
                  <a:srgbClr val="3730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Layer 3 routing required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37D3C15-4BF9-3D87-A374-C582293FF1E0}"/>
              </a:ext>
            </a:extLst>
          </p:cNvPr>
          <p:cNvSpPr txBox="1"/>
          <p:nvPr/>
        </p:nvSpPr>
        <p:spPr>
          <a:xfrm>
            <a:off x="1208766" y="1570987"/>
            <a:ext cx="130107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Same-Subnet Communication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40657C0-6092-113B-B464-5676490F4FE9}"/>
              </a:ext>
            </a:extLst>
          </p:cNvPr>
          <p:cNvSpPr txBox="1"/>
          <p:nvPr/>
        </p:nvSpPr>
        <p:spPr>
          <a:xfrm>
            <a:off x="6885666" y="1570987"/>
            <a:ext cx="130107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Cross-Subnet Communication</a:t>
            </a:r>
          </a:p>
        </p:txBody>
      </p:sp>
      <p:sp>
        <p:nvSpPr>
          <p:cNvPr id="55" name="Rectangle 1">
            <a:extLst>
              <a:ext uri="{FF2B5EF4-FFF2-40B4-BE49-F238E27FC236}">
                <a16:creationId xmlns:a16="http://schemas.microsoft.com/office/drawing/2014/main" id="{649F06A7-00C4-FA9B-B501-BF9D23227613}"/>
              </a:ext>
            </a:extLst>
          </p:cNvPr>
          <p:cNvSpPr/>
          <p:nvPr/>
        </p:nvSpPr>
        <p:spPr>
          <a:xfrm>
            <a:off x="529590" y="176741"/>
            <a:ext cx="566928" cy="635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57" name="TextBox 2">
            <a:extLst>
              <a:ext uri="{FF2B5EF4-FFF2-40B4-BE49-F238E27FC236}">
                <a16:creationId xmlns:a16="http://schemas.microsoft.com/office/drawing/2014/main" id="{6642F795-6C74-C0EF-2CBA-E81607555166}"/>
              </a:ext>
            </a:extLst>
          </p:cNvPr>
          <p:cNvSpPr txBox="1"/>
          <p:nvPr/>
        </p:nvSpPr>
        <p:spPr>
          <a:xfrm>
            <a:off x="533400" y="282334"/>
            <a:ext cx="960120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50" b="1" dirty="0">
                <a:solidFill>
                  <a:srgbClr val="143C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The Default Gateway</a:t>
            </a:r>
            <a:endParaRPr sz="2900" b="1" dirty="0">
              <a:solidFill>
                <a:srgbClr val="143C6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61" name="Rectangle 4">
            <a:extLst>
              <a:ext uri="{FF2B5EF4-FFF2-40B4-BE49-F238E27FC236}">
                <a16:creationId xmlns:a16="http://schemas.microsoft.com/office/drawing/2014/main" id="{7D8CBED8-F11E-1439-E12D-F574F462545D}"/>
              </a:ext>
            </a:extLst>
          </p:cNvPr>
          <p:cNvSpPr/>
          <p:nvPr/>
        </p:nvSpPr>
        <p:spPr>
          <a:xfrm>
            <a:off x="529590" y="786251"/>
            <a:ext cx="10725912" cy="1270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63" name="TextBox 3">
            <a:extLst>
              <a:ext uri="{FF2B5EF4-FFF2-40B4-BE49-F238E27FC236}">
                <a16:creationId xmlns:a16="http://schemas.microsoft.com/office/drawing/2014/main" id="{7810F1E3-D2EE-9B0B-C8D8-A131C86FE90F}"/>
              </a:ext>
            </a:extLst>
          </p:cNvPr>
          <p:cNvSpPr txBox="1"/>
          <p:nvPr/>
        </p:nvSpPr>
        <p:spPr>
          <a:xfrm>
            <a:off x="533401" y="902002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zh-CN" altLang="zh-CN" sz="134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The default gateway is the next hop a host uses to send data to other networks when no more specific local route is available.</a:t>
            </a:r>
            <a:endParaRPr sz="1200" b="0" dirty="0">
              <a:solidFill>
                <a:srgbClr val="8A94A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035095E-1F61-94D8-E85A-9F031E5E0DD7}"/>
              </a:ext>
            </a:extLst>
          </p:cNvPr>
          <p:cNvSpPr/>
          <p:nvPr/>
        </p:nvSpPr>
        <p:spPr>
          <a:xfrm>
            <a:off x="1356258" y="2374985"/>
            <a:ext cx="460268" cy="33043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AE5E2B0-D9A3-AA3E-4F1D-028DF7433F1C}"/>
              </a:ext>
            </a:extLst>
          </p:cNvPr>
          <p:cNvSpPr txBox="1"/>
          <p:nvPr/>
        </p:nvSpPr>
        <p:spPr>
          <a:xfrm>
            <a:off x="1417627" y="2358242"/>
            <a:ext cx="325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2A027D5-235B-CE2D-C0B5-CB34031F47D3}"/>
              </a:ext>
            </a:extLst>
          </p:cNvPr>
          <p:cNvSpPr/>
          <p:nvPr/>
        </p:nvSpPr>
        <p:spPr>
          <a:xfrm>
            <a:off x="4690325" y="2374785"/>
            <a:ext cx="460268" cy="33043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67EEDFD3-7FE4-B81D-C18E-1D43A12B4BB7}"/>
              </a:ext>
            </a:extLst>
          </p:cNvPr>
          <p:cNvSpPr txBox="1"/>
          <p:nvPr/>
        </p:nvSpPr>
        <p:spPr>
          <a:xfrm>
            <a:off x="4751694" y="2358042"/>
            <a:ext cx="325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5A9FB2AF-5C8B-F171-9BB8-5DCE5238FD12}"/>
              </a:ext>
            </a:extLst>
          </p:cNvPr>
          <p:cNvSpPr/>
          <p:nvPr/>
        </p:nvSpPr>
        <p:spPr>
          <a:xfrm>
            <a:off x="2712515" y="2799123"/>
            <a:ext cx="1104645" cy="1318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F9C22DA-967E-D001-21AA-0BCD37C8C748}"/>
              </a:ext>
            </a:extLst>
          </p:cNvPr>
          <p:cNvSpPr/>
          <p:nvPr/>
        </p:nvSpPr>
        <p:spPr>
          <a:xfrm>
            <a:off x="8374840" y="2778793"/>
            <a:ext cx="1104645" cy="1318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3539D3F-F0FC-490D-E81B-760DCCA942C5}"/>
              </a:ext>
            </a:extLst>
          </p:cNvPr>
          <p:cNvSpPr txBox="1"/>
          <p:nvPr/>
        </p:nvSpPr>
        <p:spPr>
          <a:xfrm>
            <a:off x="8616198" y="2741360"/>
            <a:ext cx="11619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gateway</a:t>
            </a:r>
            <a:endParaRPr lang="zh-CN" altLang="en-US" sz="1100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4F651FE-8DA1-874D-AEB3-0CECB6B15187}"/>
              </a:ext>
            </a:extLst>
          </p:cNvPr>
          <p:cNvSpPr txBox="1"/>
          <p:nvPr/>
        </p:nvSpPr>
        <p:spPr>
          <a:xfrm>
            <a:off x="2683876" y="2714962"/>
            <a:ext cx="11619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/>
              <a:t>switch</a:t>
            </a:r>
            <a:endParaRPr lang="zh-CN" altLang="en-US" sz="1100" dirty="0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0065E8AD-C8CE-85B9-0139-65D6DA9A80E6}"/>
              </a:ext>
            </a:extLst>
          </p:cNvPr>
          <p:cNvSpPr/>
          <p:nvPr/>
        </p:nvSpPr>
        <p:spPr>
          <a:xfrm>
            <a:off x="7035785" y="2374785"/>
            <a:ext cx="460268" cy="33043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AFCDFFDC-59E0-CE06-B6A2-112B3AA39626}"/>
              </a:ext>
            </a:extLst>
          </p:cNvPr>
          <p:cNvSpPr txBox="1"/>
          <p:nvPr/>
        </p:nvSpPr>
        <p:spPr>
          <a:xfrm>
            <a:off x="7097154" y="2358042"/>
            <a:ext cx="325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321F728D-30F9-F573-817B-148AAE77DE41}"/>
              </a:ext>
            </a:extLst>
          </p:cNvPr>
          <p:cNvSpPr/>
          <p:nvPr/>
        </p:nvSpPr>
        <p:spPr>
          <a:xfrm>
            <a:off x="10387748" y="2368787"/>
            <a:ext cx="460268" cy="33043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BB352A77-39DC-7E6B-8DEB-20B8D4B48B1F}"/>
              </a:ext>
            </a:extLst>
          </p:cNvPr>
          <p:cNvSpPr txBox="1"/>
          <p:nvPr/>
        </p:nvSpPr>
        <p:spPr>
          <a:xfrm>
            <a:off x="10449117" y="2352044"/>
            <a:ext cx="325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32" name="灯片编号占位符 31">
            <a:extLst>
              <a:ext uri="{FF2B5EF4-FFF2-40B4-BE49-F238E27FC236}">
                <a16:creationId xmlns:a16="http://schemas.microsoft.com/office/drawing/2014/main" id="{3EC9F60D-278D-01DF-5EC0-CBF361400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679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979FCCF1-7F19-1975-F2B5-3412540C835C}"/>
              </a:ext>
            </a:extLst>
          </p:cNvPr>
          <p:cNvSpPr/>
          <p:nvPr/>
        </p:nvSpPr>
        <p:spPr>
          <a:xfrm>
            <a:off x="731520" y="566928"/>
            <a:ext cx="566928" cy="635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4AFAA2AB-C644-0EDA-3DCD-560A342EE7D4}"/>
              </a:ext>
            </a:extLst>
          </p:cNvPr>
          <p:cNvSpPr txBox="1"/>
          <p:nvPr/>
        </p:nvSpPr>
        <p:spPr>
          <a:xfrm>
            <a:off x="731520" y="749808"/>
            <a:ext cx="960120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zh-CN" altLang="en-US" sz="3250" b="1" dirty="0">
                <a:solidFill>
                  <a:srgbClr val="143C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VLAN: One Switch, Several LANs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548F689D-6D0A-EB03-F621-8B0BE364F18A}"/>
              </a:ext>
            </a:extLst>
          </p:cNvPr>
          <p:cNvSpPr/>
          <p:nvPr/>
        </p:nvSpPr>
        <p:spPr>
          <a:xfrm>
            <a:off x="734568" y="1282492"/>
            <a:ext cx="10725912" cy="1270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E1D44EF1-07C0-18C4-0491-FD5A9EC1B992}"/>
              </a:ext>
            </a:extLst>
          </p:cNvPr>
          <p:cNvSpPr txBox="1"/>
          <p:nvPr/>
        </p:nvSpPr>
        <p:spPr>
          <a:xfrm>
            <a:off x="731520" y="1374271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340" dirty="0">
                <a:solidFill>
                  <a:srgbClr val="8A94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A VLAN groups switch ports into their own broadcast domain</a:t>
            </a:r>
            <a:endParaRPr sz="1200" b="0" dirty="0">
              <a:solidFill>
                <a:srgbClr val="8A94A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4" name="灯片编号占位符 31">
            <a:extLst>
              <a:ext uri="{FF2B5EF4-FFF2-40B4-BE49-F238E27FC236}">
                <a16:creationId xmlns:a16="http://schemas.microsoft.com/office/drawing/2014/main" id="{3EC9F60D-278D-01DF-5EC0-CBF361400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7B27089F-739D-EC22-1456-E28C6274DB85}"/>
              </a:ext>
            </a:extLst>
          </p:cNvPr>
          <p:cNvSpPr/>
          <p:nvPr/>
        </p:nvSpPr>
        <p:spPr>
          <a:xfrm>
            <a:off x="731520" y="1810512"/>
            <a:ext cx="5230368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F34A9A00-8AB7-4C38-CB49-A8716A6F82BE}"/>
              </a:ext>
            </a:extLst>
          </p:cNvPr>
          <p:cNvSpPr/>
          <p:nvPr/>
        </p:nvSpPr>
        <p:spPr>
          <a:xfrm>
            <a:off x="731520" y="1810512"/>
            <a:ext cx="5230368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7" name="TextBox 32"/>
          <p:cNvSpPr txBox="1"/>
          <p:nvPr/>
        </p:nvSpPr>
        <p:spPr>
          <a:xfrm>
            <a:off x="960120" y="2009140"/>
            <a:ext cx="4800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dirty="0">
                <a:solidFill>
                  <a:srgbClr val="102A43"/>
                </a:solidFill>
                <a:latin typeface="微软雅黑"/>
                <a:ea typeface="微软雅黑"/>
                <a:cs typeface="Microsoft YaHei"/>
              </a:rPr>
              <a:t>One switch, one broadcast domain</a:t>
            </a:r>
          </a:p>
        </p:txBody>
      </p:sp>
      <p:sp>
        <p:nvSpPr>
          <p:cNvPr id="18" name="TextBox 33"/>
          <p:cNvSpPr txBox="1"/>
          <p:nvPr/>
        </p:nvSpPr>
        <p:spPr>
          <a:xfrm>
            <a:off x="960120" y="2397760"/>
            <a:ext cx="4800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0" dirty="0">
                <a:solidFill>
                  <a:srgbClr val="475569"/>
                </a:solidFill>
                <a:latin typeface="微软雅黑"/>
                <a:ea typeface="微软雅黑"/>
                <a:cs typeface="Microsoft YaHei"/>
              </a:rPr>
              <a:t>Every ARP and DHCP broadcast reaches every port.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0" dirty="0">
                <a:solidFill>
                  <a:srgbClr val="475569"/>
                </a:solidFill>
                <a:latin typeface="微软雅黑"/>
                <a:ea typeface="微软雅黑"/>
                <a:cs typeface="Microsoft YaHei"/>
              </a:rPr>
              <a:t>Lab, office and server traffic all share one LAN.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0" dirty="0">
                <a:solidFill>
                  <a:srgbClr val="475569"/>
                </a:solidFill>
                <a:latin typeface="微软雅黑"/>
                <a:ea typeface="微软雅黑"/>
                <a:cs typeface="Microsoft YaHei"/>
              </a:rPr>
              <a:t>Adding devices only adds more broadcast noise.</a:t>
            </a:r>
          </a:p>
        </p:txBody>
      </p:sp>
      <p:sp>
        <p:nvSpPr>
          <p:cNvPr id="19" name="Rounded Rectangle 7">
            <a:extLst>
              <a:ext uri="{FF2B5EF4-FFF2-40B4-BE49-F238E27FC236}">
                <a16:creationId xmlns:a16="http://schemas.microsoft.com/office/drawing/2014/main" id="{7B27089F-739D-EC22-1456-E28C6274DB85}"/>
              </a:ext>
            </a:extLst>
          </p:cNvPr>
          <p:cNvSpPr/>
          <p:nvPr/>
        </p:nvSpPr>
        <p:spPr>
          <a:xfrm>
            <a:off x="6291072" y="1810512"/>
            <a:ext cx="5230368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F34A9A00-8AB7-4C38-CB49-A8716A6F82BE}"/>
              </a:ext>
            </a:extLst>
          </p:cNvPr>
          <p:cNvSpPr/>
          <p:nvPr/>
        </p:nvSpPr>
        <p:spPr>
          <a:xfrm>
            <a:off x="6291072" y="1810512"/>
            <a:ext cx="5230368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1" name="TextBox 34"/>
          <p:cNvSpPr txBox="1"/>
          <p:nvPr/>
        </p:nvSpPr>
        <p:spPr>
          <a:xfrm>
            <a:off x="6519672" y="2011680"/>
            <a:ext cx="4800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02A43"/>
                </a:solidFill>
                <a:latin typeface="微软雅黑"/>
                <a:ea typeface="微软雅黑"/>
                <a:cs typeface="Microsoft YaHei"/>
              </a:rPr>
              <a:t>Ports grouped into VLANs</a:t>
            </a:r>
          </a:p>
        </p:txBody>
      </p:sp>
      <p:sp>
        <p:nvSpPr>
          <p:cNvPr id="22" name="TextBox 35"/>
          <p:cNvSpPr txBox="1"/>
          <p:nvPr/>
        </p:nvSpPr>
        <p:spPr>
          <a:xfrm>
            <a:off x="6519672" y="2397760"/>
            <a:ext cx="4800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0" dirty="0">
                <a:solidFill>
                  <a:srgbClr val="475569"/>
                </a:solidFill>
                <a:latin typeface="微软雅黑"/>
                <a:ea typeface="微软雅黑"/>
                <a:cs typeface="Microsoft YaHei"/>
              </a:rPr>
              <a:t>VLAN 10, 20 and 30 act as separate LANs on one switch.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0" dirty="0">
                <a:solidFill>
                  <a:srgbClr val="475569"/>
                </a:solidFill>
                <a:latin typeface="微软雅黑"/>
                <a:ea typeface="微软雅黑"/>
                <a:cs typeface="Microsoft YaHei"/>
              </a:rPr>
              <a:t>A broadcast stays inside its own VLAN.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00" b="0" dirty="0">
                <a:solidFill>
                  <a:srgbClr val="475569"/>
                </a:solidFill>
                <a:latin typeface="微软雅黑"/>
                <a:ea typeface="微软雅黑"/>
                <a:cs typeface="Microsoft YaHei"/>
              </a:rPr>
              <a:t>One switch now behaves like several independent switches.</a:t>
            </a:r>
          </a:p>
        </p:txBody>
      </p:sp>
      <p:sp>
        <p:nvSpPr>
          <p:cNvPr id="23" name="Rounded Rectangle 7">
            <a:extLst>
              <a:ext uri="{FF2B5EF4-FFF2-40B4-BE49-F238E27FC236}">
                <a16:creationId xmlns:a16="http://schemas.microsoft.com/office/drawing/2014/main" id="{7B27089F-739D-EC22-1456-E28C6274DB85}"/>
              </a:ext>
            </a:extLst>
          </p:cNvPr>
          <p:cNvSpPr/>
          <p:nvPr/>
        </p:nvSpPr>
        <p:spPr>
          <a:xfrm>
            <a:off x="731520" y="3657600"/>
            <a:ext cx="10789920" cy="2633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4" name="Rounded Rectangle 7">
            <a:extLst>
              <a:ext uri="{FF2B5EF4-FFF2-40B4-BE49-F238E27FC236}">
                <a16:creationId xmlns:a16="http://schemas.microsoft.com/office/drawing/2014/main" id="{7B27089F-739D-EC22-1456-E28C6274DB85}"/>
              </a:ext>
            </a:extLst>
          </p:cNvPr>
          <p:cNvSpPr/>
          <p:nvPr/>
        </p:nvSpPr>
        <p:spPr>
          <a:xfrm>
            <a:off x="1280160" y="4498848"/>
            <a:ext cx="4023360" cy="1371600"/>
          </a:xfrm>
          <a:prstGeom prst="roundRect">
            <a:avLst/>
          </a:prstGeom>
          <a:noFill/>
          <a:ln w="15875">
            <a:solidFill>
              <a:srgbClr val="3B82F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5" name="Rounded Rectangle 7">
            <a:extLst>
              <a:ext uri="{FF2B5EF4-FFF2-40B4-BE49-F238E27FC236}">
                <a16:creationId xmlns:a16="http://schemas.microsoft.com/office/drawing/2014/main" id="{7B27089F-739D-EC22-1456-E28C6274DB85}"/>
              </a:ext>
            </a:extLst>
          </p:cNvPr>
          <p:cNvSpPr/>
          <p:nvPr/>
        </p:nvSpPr>
        <p:spPr>
          <a:xfrm>
            <a:off x="6812280" y="4498848"/>
            <a:ext cx="4023360" cy="1371600"/>
          </a:xfrm>
          <a:prstGeom prst="roundRect">
            <a:avLst/>
          </a:prstGeom>
          <a:noFill/>
          <a:ln w="15875">
            <a:solidFill>
              <a:srgbClr val="F59E0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6" name="Rounded Rectangle 7">
            <a:extLst>
              <a:ext uri="{FF2B5EF4-FFF2-40B4-BE49-F238E27FC236}">
                <a16:creationId xmlns:a16="http://schemas.microsoft.com/office/drawing/2014/main" id="{7B27089F-739D-EC22-1456-E28C6274DB85}"/>
              </a:ext>
            </a:extLst>
          </p:cNvPr>
          <p:cNvSpPr/>
          <p:nvPr/>
        </p:nvSpPr>
        <p:spPr>
          <a:xfrm>
            <a:off x="5285232" y="3858768"/>
            <a:ext cx="16459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02A43"/>
                </a:solidFill>
                <a:latin typeface="微软雅黑"/>
                <a:ea typeface="微软雅黑"/>
                <a:cs typeface="Microsoft YaHei"/>
              </a:rPr>
              <a:t>L2 Switch</a:t>
            </a:r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7" name="Rounded Rectangle 7">
            <a:extLst>
              <a:ext uri="{FF2B5EF4-FFF2-40B4-BE49-F238E27FC236}">
                <a16:creationId xmlns:a16="http://schemas.microsoft.com/office/drawing/2014/main" id="{7B27089F-739D-EC22-1456-E28C6274DB85}"/>
              </a:ext>
            </a:extLst>
          </p:cNvPr>
          <p:cNvSpPr/>
          <p:nvPr/>
        </p:nvSpPr>
        <p:spPr>
          <a:xfrm>
            <a:off x="1280160" y="4151376"/>
            <a:ext cx="868680" cy="23774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D4ED8"/>
                </a:solidFill>
                <a:latin typeface="微软雅黑"/>
                <a:ea typeface="微软雅黑"/>
                <a:cs typeface="Microsoft YaHei"/>
              </a:rPr>
              <a:t>VLAN 10</a:t>
            </a:r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8" name="Rounded Rectangle 7">
            <a:extLst>
              <a:ext uri="{FF2B5EF4-FFF2-40B4-BE49-F238E27FC236}">
                <a16:creationId xmlns:a16="http://schemas.microsoft.com/office/drawing/2014/main" id="{7B27089F-739D-EC22-1456-E28C6274DB85}"/>
              </a:ext>
            </a:extLst>
          </p:cNvPr>
          <p:cNvSpPr/>
          <p:nvPr/>
        </p:nvSpPr>
        <p:spPr>
          <a:xfrm>
            <a:off x="6812280" y="4151376"/>
            <a:ext cx="868680" cy="237744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B45309"/>
                </a:solidFill>
                <a:latin typeface="微软雅黑"/>
                <a:ea typeface="微软雅黑"/>
                <a:cs typeface="Microsoft YaHei"/>
              </a:rPr>
              <a:t>VLAN 20</a:t>
            </a:r>
            <a:endParaRPr dirty="0">
              <a:latin typeface="微软雅黑" panose="020B0503020204020204" pitchFamily="34" charset="-122"/>
            </a:endParaRPr>
          </a:p>
        </p:txBody>
      </p:sp>
      <p:cxnSp>
        <p:nvCxnSpPr>
          <p:cNvPr id="29" name="Connector 36"/>
          <p:cNvCxnSpPr/>
          <p:nvPr/>
        </p:nvCxnSpPr>
        <p:spPr>
          <a:xfrm flipH="1">
            <a:off x="2331720" y="4407408"/>
            <a:ext cx="3200400" cy="292608"/>
          </a:xfrm>
          <a:prstGeom prst="line">
            <a:avLst/>
          </a:prstGeom>
          <a:ln w="1587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37"/>
          <p:cNvCxnSpPr/>
          <p:nvPr/>
        </p:nvCxnSpPr>
        <p:spPr>
          <a:xfrm flipH="1">
            <a:off x="4251960" y="4407408"/>
            <a:ext cx="1554480" cy="292608"/>
          </a:xfrm>
          <a:prstGeom prst="line">
            <a:avLst/>
          </a:prstGeom>
          <a:ln w="1587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8"/>
          <p:cNvCxnSpPr/>
          <p:nvPr/>
        </p:nvCxnSpPr>
        <p:spPr>
          <a:xfrm>
            <a:off x="6583680" y="4407408"/>
            <a:ext cx="1280160" cy="292608"/>
          </a:xfrm>
          <a:prstGeom prst="line">
            <a:avLst/>
          </a:prstGeom>
          <a:ln w="1587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9"/>
          <p:cNvCxnSpPr/>
          <p:nvPr/>
        </p:nvCxnSpPr>
        <p:spPr>
          <a:xfrm>
            <a:off x="6812280" y="4407408"/>
            <a:ext cx="2971800" cy="292608"/>
          </a:xfrm>
          <a:prstGeom prst="line">
            <a:avLst/>
          </a:prstGeom>
          <a:ln w="15875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7">
            <a:extLst>
              <a:ext uri="{FF2B5EF4-FFF2-40B4-BE49-F238E27FC236}">
                <a16:creationId xmlns:a16="http://schemas.microsoft.com/office/drawing/2014/main" id="{7B27089F-739D-EC22-1456-E28C6274DB85}"/>
              </a:ext>
            </a:extLst>
          </p:cNvPr>
          <p:cNvSpPr/>
          <p:nvPr/>
        </p:nvSpPr>
        <p:spPr>
          <a:xfrm>
            <a:off x="1463040" y="4700016"/>
            <a:ext cx="1737360" cy="868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4ED8"/>
                </a:solidFill>
                <a:latin typeface="微软雅黑"/>
                <a:ea typeface="微软雅黑"/>
                <a:cs typeface="Microsoft YaHei"/>
              </a:rPr>
              <a:t>PC-A</a:t>
            </a:r>
            <a:endParaRPr dirty="0">
              <a:latin typeface="微软雅黑" panose="020B0503020204020204" pitchFamily="34" charset="-122"/>
            </a:endParaRPr>
          </a:p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75569"/>
                </a:solidFill>
                <a:latin typeface="微软雅黑"/>
                <a:ea typeface="微软雅黑"/>
                <a:cs typeface="Microsoft YaHei"/>
              </a:rPr>
              <a:t>192.168.10.11</a:t>
            </a:r>
          </a:p>
        </p:txBody>
      </p:sp>
      <p:sp>
        <p:nvSpPr>
          <p:cNvPr id="34" name="Rounded Rectangle 7">
            <a:extLst>
              <a:ext uri="{FF2B5EF4-FFF2-40B4-BE49-F238E27FC236}">
                <a16:creationId xmlns:a16="http://schemas.microsoft.com/office/drawing/2014/main" id="{7B27089F-739D-EC22-1456-E28C6274DB85}"/>
              </a:ext>
            </a:extLst>
          </p:cNvPr>
          <p:cNvSpPr/>
          <p:nvPr/>
        </p:nvSpPr>
        <p:spPr>
          <a:xfrm>
            <a:off x="3383280" y="4700016"/>
            <a:ext cx="1737360" cy="868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D4ED8"/>
                </a:solidFill>
                <a:latin typeface="微软雅黑"/>
                <a:ea typeface="微软雅黑"/>
                <a:cs typeface="Microsoft YaHei"/>
              </a:rPr>
              <a:t>PC-B</a:t>
            </a:r>
            <a:endParaRPr dirty="0">
              <a:latin typeface="微软雅黑" panose="020B0503020204020204" pitchFamily="34" charset="-122"/>
            </a:endParaRPr>
          </a:p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75569"/>
                </a:solidFill>
                <a:latin typeface="微软雅黑"/>
                <a:ea typeface="微软雅黑"/>
                <a:cs typeface="Microsoft YaHei"/>
              </a:rPr>
              <a:t>192.168.10.12</a:t>
            </a:r>
          </a:p>
        </p:txBody>
      </p:sp>
      <p:sp>
        <p:nvSpPr>
          <p:cNvPr id="35" name="Rounded Rectangle 7">
            <a:extLst>
              <a:ext uri="{FF2B5EF4-FFF2-40B4-BE49-F238E27FC236}">
                <a16:creationId xmlns:a16="http://schemas.microsoft.com/office/drawing/2014/main" id="{7B27089F-739D-EC22-1456-E28C6274DB85}"/>
              </a:ext>
            </a:extLst>
          </p:cNvPr>
          <p:cNvSpPr/>
          <p:nvPr/>
        </p:nvSpPr>
        <p:spPr>
          <a:xfrm>
            <a:off x="6995160" y="4700016"/>
            <a:ext cx="1737360" cy="8686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B45309"/>
                </a:solidFill>
                <a:latin typeface="微软雅黑"/>
                <a:ea typeface="微软雅黑"/>
                <a:cs typeface="Microsoft YaHei"/>
              </a:rPr>
              <a:t>PC-C</a:t>
            </a:r>
            <a:endParaRPr dirty="0">
              <a:latin typeface="微软雅黑" panose="020B0503020204020204" pitchFamily="34" charset="-122"/>
            </a:endParaRPr>
          </a:p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75569"/>
                </a:solidFill>
                <a:latin typeface="微软雅黑"/>
                <a:ea typeface="微软雅黑"/>
                <a:cs typeface="Microsoft YaHei"/>
              </a:rPr>
              <a:t>192.168.20.11</a:t>
            </a:r>
          </a:p>
        </p:txBody>
      </p:sp>
      <p:sp>
        <p:nvSpPr>
          <p:cNvPr id="36" name="Rounded Rectangle 7">
            <a:extLst>
              <a:ext uri="{FF2B5EF4-FFF2-40B4-BE49-F238E27FC236}">
                <a16:creationId xmlns:a16="http://schemas.microsoft.com/office/drawing/2014/main" id="{7B27089F-739D-EC22-1456-E28C6274DB85}"/>
              </a:ext>
            </a:extLst>
          </p:cNvPr>
          <p:cNvSpPr/>
          <p:nvPr/>
        </p:nvSpPr>
        <p:spPr>
          <a:xfrm>
            <a:off x="8915400" y="4700016"/>
            <a:ext cx="1737360" cy="8686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B45309"/>
                </a:solidFill>
                <a:latin typeface="微软雅黑"/>
                <a:ea typeface="微软雅黑"/>
                <a:cs typeface="Microsoft YaHei"/>
              </a:rPr>
              <a:t>PC-D</a:t>
            </a:r>
            <a:endParaRPr dirty="0">
              <a:latin typeface="微软雅黑" panose="020B0503020204020204" pitchFamily="34" charset="-122"/>
            </a:endParaRPr>
          </a:p>
          <a:p>
            <a:pPr algn="ctr">
              <a:lnSpc>
                <a:spcPct val="100000"/>
              </a:lnSpc>
            </a:pPr>
            <a:r>
              <a:rPr sz="900" b="0">
                <a:solidFill>
                  <a:srgbClr val="475569"/>
                </a:solidFill>
                <a:latin typeface="微软雅黑"/>
                <a:ea typeface="微软雅黑"/>
                <a:cs typeface="Microsoft YaHei"/>
              </a:rPr>
              <a:t>192.168.20.12</a:t>
            </a:r>
          </a:p>
        </p:txBody>
      </p:sp>
      <p:cxnSp>
        <p:nvCxnSpPr>
          <p:cNvPr id="37" name="Connector 40"/>
          <p:cNvCxnSpPr/>
          <p:nvPr/>
        </p:nvCxnSpPr>
        <p:spPr>
          <a:xfrm>
            <a:off x="6053328" y="4526280"/>
            <a:ext cx="0" cy="137160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41"/>
          <p:cNvSpPr txBox="1"/>
          <p:nvPr/>
        </p:nvSpPr>
        <p:spPr>
          <a:xfrm>
            <a:off x="1737360" y="6053328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Microsoft YaHei"/>
              </a:rPr>
              <a:t>Frames and broadcasts stay inside their VLAN. Crossing between VLANs needs Layer 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979FCCF1-7F19-1975-F2B5-3412540C835C}"/>
              </a:ext>
            </a:extLst>
          </p:cNvPr>
          <p:cNvSpPr/>
          <p:nvPr/>
        </p:nvSpPr>
        <p:spPr>
          <a:xfrm>
            <a:off x="731520" y="566928"/>
            <a:ext cx="566928" cy="635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4AFAA2AB-C644-0EDA-3DCD-560A342EE7D4}"/>
              </a:ext>
            </a:extLst>
          </p:cNvPr>
          <p:cNvSpPr txBox="1"/>
          <p:nvPr/>
        </p:nvSpPr>
        <p:spPr>
          <a:xfrm>
            <a:off x="731520" y="749808"/>
            <a:ext cx="960120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zh-CN" altLang="en-US" sz="3250" b="1" dirty="0">
                <a:solidFill>
                  <a:srgbClr val="143C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VLAN and Subnet: A Matching Pair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548F689D-6D0A-EB03-F621-8B0BE364F18A}"/>
              </a:ext>
            </a:extLst>
          </p:cNvPr>
          <p:cNvSpPr/>
          <p:nvPr/>
        </p:nvSpPr>
        <p:spPr>
          <a:xfrm>
            <a:off x="734568" y="1282492"/>
            <a:ext cx="10725912" cy="1270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E1D44EF1-07C0-18C4-0491-FD5A9EC1B992}"/>
              </a:ext>
            </a:extLst>
          </p:cNvPr>
          <p:cNvSpPr txBox="1"/>
          <p:nvPr/>
        </p:nvSpPr>
        <p:spPr>
          <a:xfrm>
            <a:off x="731520" y="1374271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340" dirty="0">
                <a:solidFill>
                  <a:srgbClr val="8A94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One VLAN, one subnet, one gateway — and two kinds of switch port</a:t>
            </a:r>
            <a:endParaRPr sz="1200" b="0" dirty="0">
              <a:solidFill>
                <a:srgbClr val="8A94A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4" name="灯片编号占位符 31">
            <a:extLst>
              <a:ext uri="{FF2B5EF4-FFF2-40B4-BE49-F238E27FC236}">
                <a16:creationId xmlns:a16="http://schemas.microsoft.com/office/drawing/2014/main" id="{3EC9F60D-278D-01DF-5EC0-CBF361400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15" name="Table 32"/>
          <p:cNvGraphicFramePr>
            <a:graphicFrameLocks noGrp="1"/>
          </p:cNvGraphicFramePr>
          <p:nvPr/>
        </p:nvGraphicFramePr>
        <p:xfrm>
          <a:off x="731520" y="1810512"/>
          <a:ext cx="64465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Microsoft YaHei"/>
                        </a:rPr>
                        <a:t>VLAN</a:t>
                      </a:r>
                    </a:p>
                  </a:txBody>
                  <a:tcPr marL="82296" marR="64008" marT="27432" marB="27432"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Microsoft YaHei"/>
                        </a:rPr>
                        <a:t>Subnet</a:t>
                      </a:r>
                    </a:p>
                  </a:txBody>
                  <a:tcPr marL="82296" marR="64008" marT="27432" marB="27432"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Microsoft YaHei"/>
                        </a:rPr>
                        <a:t>Gateway</a:t>
                      </a:r>
                    </a:p>
                  </a:txBody>
                  <a:tcPr marL="82296" marR="64008" marT="27432" marB="27432"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Microsoft YaHei"/>
                        </a:rPr>
                        <a:t>Ports</a:t>
                      </a:r>
                    </a:p>
                  </a:txBody>
                  <a:tcPr marL="82296" marR="64008" marT="27432" marB="27432" anchor="ctr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Microsoft YaHei"/>
                        </a:rPr>
                        <a:t>VLAN 10 · Office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Microsoft YaHei"/>
                        </a:rPr>
                        <a:t>192.168.10.0/24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Microsoft YaHei"/>
                        </a:rPr>
                        <a:t>192.168.10.1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Microsoft YaHei"/>
                        </a:rPr>
                        <a:t>Fa0/1–Fa0/8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Microsoft YaHei"/>
                        </a:rPr>
                        <a:t>VLAN 20 · Servers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Microsoft YaHei"/>
                        </a:rPr>
                        <a:t>192.168.20.0/24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Microsoft YaHei"/>
                        </a:rPr>
                        <a:t>192.168.20.1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Microsoft YaHei"/>
                        </a:rPr>
                        <a:t>Fa0/9–Fa0/12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Microsoft YaHei"/>
                        </a:rPr>
                        <a:t>VLAN 30 · Guests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Microsoft YaHei"/>
                        </a:rPr>
                        <a:t>192.168.30.0/24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Microsoft YaHei"/>
                        </a:rPr>
                        <a:t>192.168.30.1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Microsoft YaHei"/>
                        </a:rPr>
                        <a:t>Fa0/13–Fa0/16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Rounded Rectangle 7">
            <a:extLst>
              <a:ext uri="{FF2B5EF4-FFF2-40B4-BE49-F238E27FC236}">
                <a16:creationId xmlns:a16="http://schemas.microsoft.com/office/drawing/2014/main" id="{7B27089F-739D-EC22-1456-E28C6274DB85}"/>
              </a:ext>
            </a:extLst>
          </p:cNvPr>
          <p:cNvSpPr/>
          <p:nvPr/>
        </p:nvSpPr>
        <p:spPr>
          <a:xfrm>
            <a:off x="7406640" y="1810512"/>
            <a:ext cx="411480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F34A9A00-8AB7-4C38-CB49-A8716A6F82BE}"/>
              </a:ext>
            </a:extLst>
          </p:cNvPr>
          <p:cNvSpPr/>
          <p:nvPr/>
        </p:nvSpPr>
        <p:spPr>
          <a:xfrm>
            <a:off x="7406640" y="1810512"/>
            <a:ext cx="411480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8" name="TextBox 33"/>
          <p:cNvSpPr txBox="1"/>
          <p:nvPr/>
        </p:nvSpPr>
        <p:spPr>
          <a:xfrm>
            <a:off x="7607808" y="1993392"/>
            <a:ext cx="37490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2A43"/>
                </a:solidFill>
                <a:latin typeface="微软雅黑"/>
                <a:ea typeface="微软雅黑"/>
                <a:cs typeface="Microsoft YaHei"/>
              </a:rPr>
              <a:t>Access port</a:t>
            </a:r>
          </a:p>
        </p:txBody>
      </p:sp>
      <p:sp>
        <p:nvSpPr>
          <p:cNvPr id="19" name="TextBox 34"/>
          <p:cNvSpPr txBox="1"/>
          <p:nvPr/>
        </p:nvSpPr>
        <p:spPr>
          <a:xfrm>
            <a:off x="7607808" y="2267712"/>
            <a:ext cx="374903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Microsoft YaHei"/>
              </a:rPr>
              <a:t>One VLAN, untagged — faces a PC or printer.</a:t>
            </a:r>
          </a:p>
        </p:txBody>
      </p: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7B27089F-739D-EC22-1456-E28C6274DB85}"/>
              </a:ext>
            </a:extLst>
          </p:cNvPr>
          <p:cNvSpPr/>
          <p:nvPr/>
        </p:nvSpPr>
        <p:spPr>
          <a:xfrm>
            <a:off x="7406640" y="2779776"/>
            <a:ext cx="411480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F34A9A00-8AB7-4C38-CB49-A8716A6F82BE}"/>
              </a:ext>
            </a:extLst>
          </p:cNvPr>
          <p:cNvSpPr/>
          <p:nvPr/>
        </p:nvSpPr>
        <p:spPr>
          <a:xfrm>
            <a:off x="7406640" y="2779776"/>
            <a:ext cx="4114800" cy="12801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2" name="TextBox 35"/>
          <p:cNvSpPr txBox="1"/>
          <p:nvPr/>
        </p:nvSpPr>
        <p:spPr>
          <a:xfrm>
            <a:off x="7607808" y="2962656"/>
            <a:ext cx="37490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2A43"/>
                </a:solidFill>
                <a:latin typeface="微软雅黑"/>
                <a:ea typeface="微软雅黑"/>
                <a:cs typeface="Microsoft YaHei"/>
              </a:rPr>
              <a:t>Trunk port</a:t>
            </a:r>
          </a:p>
        </p:txBody>
      </p:sp>
      <p:sp>
        <p:nvSpPr>
          <p:cNvPr id="23" name="TextBox 36"/>
          <p:cNvSpPr txBox="1"/>
          <p:nvPr/>
        </p:nvSpPr>
        <p:spPr>
          <a:xfrm>
            <a:off x="7607808" y="3236976"/>
            <a:ext cx="374903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Microsoft YaHei"/>
              </a:rPr>
              <a:t>Many VLANs, 802.1Q tagged — faces a switch or router.</a:t>
            </a:r>
          </a:p>
        </p:txBody>
      </p:sp>
      <p:sp>
        <p:nvSpPr>
          <p:cNvPr id="24" name="Rounded Rectangle 6"/>
          <p:cNvSpPr/>
          <p:nvPr/>
        </p:nvSpPr>
        <p:spPr>
          <a:xfrm>
            <a:off x="731520" y="3767328"/>
            <a:ext cx="10789920" cy="1828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Microsoft YaHei"/>
            </a:endParaRPr>
          </a:p>
        </p:txBody>
      </p:sp>
      <p:sp>
        <p:nvSpPr>
          <p:cNvPr id="25" name="Rectangle 7"/>
          <p:cNvSpPr/>
          <p:nvPr/>
        </p:nvSpPr>
        <p:spPr>
          <a:xfrm>
            <a:off x="731520" y="3767328"/>
            <a:ext cx="1078992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  <a:effectLst/>
        </p:spPr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Microsoft YaHei"/>
            </a:endParaRPr>
          </a:p>
        </p:txBody>
      </p:sp>
      <p:sp>
        <p:nvSpPr>
          <p:cNvPr id="26" name="Oval 37"/>
          <p:cNvSpPr/>
          <p:nvPr/>
        </p:nvSpPr>
        <p:spPr>
          <a:xfrm>
            <a:off x="859536" y="3858768"/>
            <a:ext cx="91440" cy="91440"/>
          </a:xfrm>
          <a:prstGeom prst="ellipse">
            <a:avLst/>
          </a:prstGeom>
          <a:solidFill>
            <a:srgbClr val="FF5F57"/>
          </a:solidFill>
          <a:ln w="6350">
            <a:solidFill>
              <a:srgbClr val="FF5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38"/>
          <p:cNvSpPr/>
          <p:nvPr/>
        </p:nvSpPr>
        <p:spPr>
          <a:xfrm>
            <a:off x="1042416" y="3858768"/>
            <a:ext cx="91440" cy="91440"/>
          </a:xfrm>
          <a:prstGeom prst="ellipse">
            <a:avLst/>
          </a:prstGeom>
          <a:solidFill>
            <a:srgbClr val="FEBC2E"/>
          </a:solidFill>
          <a:ln w="6350">
            <a:solidFill>
              <a:srgbClr val="FEB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39"/>
          <p:cNvSpPr/>
          <p:nvPr/>
        </p:nvSpPr>
        <p:spPr>
          <a:xfrm>
            <a:off x="1225296" y="3858768"/>
            <a:ext cx="91440" cy="91440"/>
          </a:xfrm>
          <a:prstGeom prst="ellipse">
            <a:avLst/>
          </a:prstGeom>
          <a:solidFill>
            <a:srgbClr val="28C840"/>
          </a:solidFill>
          <a:ln w="6350">
            <a:solidFill>
              <a:srgbClr val="28C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40"/>
          <p:cNvSpPr txBox="1"/>
          <p:nvPr/>
        </p:nvSpPr>
        <p:spPr>
          <a:xfrm>
            <a:off x="1444752" y="3813048"/>
            <a:ext cx="9966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A3B8"/>
                </a:solidFill>
                <a:latin typeface="微软雅黑"/>
                <a:ea typeface="微软雅黑"/>
                <a:cs typeface="Microsoft YaHei"/>
              </a:rPr>
              <a:t>VLAN preview — Cisco IOS (the full lab comes in the Packet Tracer part)</a:t>
            </a:r>
          </a:p>
        </p:txBody>
      </p:sp>
      <p:sp>
        <p:nvSpPr>
          <p:cNvPr id="30" name="TextBox 41"/>
          <p:cNvSpPr txBox="1"/>
          <p:nvPr/>
        </p:nvSpPr>
        <p:spPr>
          <a:xfrm>
            <a:off x="914400" y="4133088"/>
            <a:ext cx="10497312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7DD3A0"/>
                </a:solidFill>
                <a:latin typeface="微软雅黑"/>
                <a:ea typeface="微软雅黑"/>
                <a:cs typeface="Microsoft YaHei"/>
              </a:rPr>
              <a:t>Switch(config)# vlan 10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7DD3A0"/>
                </a:solidFill>
                <a:latin typeface="微软雅黑"/>
                <a:ea typeface="微软雅黑"/>
                <a:cs typeface="Microsoft YaHei"/>
              </a:rPr>
              <a:t>Switch(config)# interface fa0/1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7DD3A0"/>
                </a:solidFill>
                <a:latin typeface="微软雅黑"/>
                <a:ea typeface="微软雅黑"/>
                <a:cs typeface="Microsoft YaHei"/>
              </a:rPr>
              <a:t>Switch(config-if)# switchport mode access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7DD3A0"/>
                </a:solidFill>
                <a:latin typeface="微软雅黑"/>
                <a:ea typeface="微软雅黑"/>
                <a:cs typeface="Microsoft YaHei"/>
              </a:rPr>
              <a:t>Switch(config-if)# switchport access vlan 10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7DD3A0"/>
                </a:solidFill>
                <a:latin typeface="微软雅黑"/>
                <a:ea typeface="微软雅黑"/>
                <a:cs typeface="Microsoft YaHei"/>
              </a:rPr>
              <a:t>Switch(config)# interface gi0/1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7DD3A0"/>
                </a:solidFill>
                <a:latin typeface="微软雅黑"/>
                <a:ea typeface="微软雅黑"/>
                <a:cs typeface="Microsoft YaHei"/>
              </a:rPr>
              <a:t>Switch(config-if)# switchport mode trunk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7DD3A0"/>
                </a:solidFill>
                <a:latin typeface="微软雅黑"/>
                <a:ea typeface="微软雅黑"/>
                <a:cs typeface="Microsoft YaHei"/>
              </a:rPr>
              <a:t>Switch(config-if)# switchport trunk allowed vlan 10,20,30</a:t>
            </a:r>
          </a:p>
        </p:txBody>
      </p:sp>
      <p:sp>
        <p:nvSpPr>
          <p:cNvPr id="31" name="TextBox 42"/>
          <p:cNvSpPr txBox="1"/>
          <p:nvPr/>
        </p:nvSpPr>
        <p:spPr>
          <a:xfrm>
            <a:off x="731520" y="577900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Microsoft YaHei"/>
              </a:rPr>
              <a:t>Each VLAN gets its own subnet and gateway. A trunk is the single cable that carries them all.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89B1C-B04F-3C44-3BC3-695B6A3E5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75B26F-DE47-6ABB-A95D-E8240599A03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906D02-8F6F-EDB3-8A3A-B2B9ECE8E53C}"/>
              </a:ext>
            </a:extLst>
          </p:cNvPr>
          <p:cNvSpPr/>
          <p:nvPr/>
        </p:nvSpPr>
        <p:spPr>
          <a:xfrm>
            <a:off x="1234440" y="2331720"/>
            <a:ext cx="777240" cy="762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12D980-F413-C7C6-B15A-9B2BF8451745}"/>
              </a:ext>
            </a:extLst>
          </p:cNvPr>
          <p:cNvSpPr txBox="1"/>
          <p:nvPr/>
        </p:nvSpPr>
        <p:spPr>
          <a:xfrm>
            <a:off x="1234440" y="2697480"/>
            <a:ext cx="822960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1F9E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0</a:t>
            </a:r>
            <a:r>
              <a:rPr lang="en-US" sz="2400" b="1" dirty="0">
                <a:solidFill>
                  <a:srgbClr val="1F9E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3</a:t>
            </a:r>
            <a:endParaRPr sz="2400" b="1" dirty="0">
              <a:solidFill>
                <a:srgbClr val="1F9E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E2595C-6C4A-7FFE-5226-E14DC052A978}"/>
              </a:ext>
            </a:extLst>
          </p:cNvPr>
          <p:cNvSpPr txBox="1"/>
          <p:nvPr/>
        </p:nvSpPr>
        <p:spPr>
          <a:xfrm>
            <a:off x="1234440" y="3127248"/>
            <a:ext cx="11352368" cy="819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dirty="0">
                <a:solidFill>
                  <a:srgbClr val="143C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Packet Transport and Hop-by-Hop Forwarding</a:t>
            </a:r>
            <a:endParaRPr sz="3200" b="1" dirty="0">
              <a:solidFill>
                <a:srgbClr val="143C6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4D202A-C29B-C7B3-D626-E2CB8B0767AE}"/>
              </a:ext>
            </a:extLst>
          </p:cNvPr>
          <p:cNvSpPr txBox="1"/>
          <p:nvPr/>
        </p:nvSpPr>
        <p:spPr>
          <a:xfrm>
            <a:off x="1166934" y="4297680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sz="1300" b="0" dirty="0">
              <a:solidFill>
                <a:srgbClr val="8A94A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5DDD53-97C2-B069-6DBA-2C375429E5C0}"/>
              </a:ext>
            </a:extLst>
          </p:cNvPr>
          <p:cNvSpPr/>
          <p:nvPr/>
        </p:nvSpPr>
        <p:spPr>
          <a:xfrm flipV="1">
            <a:off x="1234440" y="3901440"/>
            <a:ext cx="5123402" cy="45719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61E62415-2E97-4824-FCF7-96DF69D4C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12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E111C-95C4-B51E-FE41-D2EDBD4CB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38C563-6370-FEE7-6E94-ED3910A6C0EE}"/>
              </a:ext>
            </a:extLst>
          </p:cNvPr>
          <p:cNvSpPr/>
          <p:nvPr/>
        </p:nvSpPr>
        <p:spPr>
          <a:xfrm>
            <a:off x="731520" y="566928"/>
            <a:ext cx="566928" cy="635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21F04D-F8AD-6D95-156E-9C5740EF0941}"/>
              </a:ext>
            </a:extLst>
          </p:cNvPr>
          <p:cNvSpPr txBox="1"/>
          <p:nvPr/>
        </p:nvSpPr>
        <p:spPr>
          <a:xfrm>
            <a:off x="731520" y="749808"/>
            <a:ext cx="960120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50" b="1" dirty="0">
                <a:solidFill>
                  <a:srgbClr val="143C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Addressing and Layer 2 / Layer 3 Forwarding</a:t>
            </a:r>
            <a:endParaRPr sz="2900" b="1" dirty="0">
              <a:solidFill>
                <a:srgbClr val="143C6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D8DFFB-4DF3-123A-FBDA-B47983B7E15E}"/>
              </a:ext>
            </a:extLst>
          </p:cNvPr>
          <p:cNvSpPr/>
          <p:nvPr/>
        </p:nvSpPr>
        <p:spPr>
          <a:xfrm>
            <a:off x="734568" y="1282492"/>
            <a:ext cx="10725912" cy="1270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00A5FCF1-E3A8-98F6-75EB-A1CA0CA60586}"/>
              </a:ext>
            </a:extLst>
          </p:cNvPr>
          <p:cNvSpPr txBox="1"/>
          <p:nvPr/>
        </p:nvSpPr>
        <p:spPr>
          <a:xfrm>
            <a:off x="487680" y="1309798"/>
            <a:ext cx="10972800" cy="4216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800" b="1" i="0">
                <a:solidFill>
                  <a:srgbClr val="102A43"/>
                </a:solidFill>
                <a:latin typeface="Microsoft YaHei"/>
              </a:defRPr>
            </a:pPr>
            <a:r>
              <a:rPr sz="202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Following One Packet: From PC-A to PC-B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9E8FE643-7513-9E5B-586C-E2100C15AD8B}"/>
              </a:ext>
            </a:extLst>
          </p:cNvPr>
          <p:cNvSpPr txBox="1"/>
          <p:nvPr/>
        </p:nvSpPr>
        <p:spPr>
          <a:xfrm>
            <a:off x="530352" y="1808929"/>
            <a:ext cx="4876800" cy="184973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Example: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  <a:p>
            <a:pPr lvl="0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PC-A: 192.168.1.10/24</a:t>
            </a:r>
          </a:p>
          <a:p>
            <a:pPr lvl="0"/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R1 LAN interface: 192.168.1.1/24</a:t>
            </a:r>
          </a:p>
          <a:p>
            <a:pPr lvl="0"/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R1 far-side interface: 192.168.2.1/24</a:t>
            </a:r>
          </a:p>
          <a:p>
            <a:pPr lvl="0"/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PC-B: 192.168.2.20/24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475569"/>
                </a:solidFill>
                <a:latin typeface="Microsoft YaHei"/>
              </a:defRPr>
            </a:pPr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164EC77B-DCEF-E4C6-4870-8EC57DA3DC85}"/>
              </a:ext>
            </a:extLst>
          </p:cNvPr>
          <p:cNvSpPr/>
          <p:nvPr/>
        </p:nvSpPr>
        <p:spPr>
          <a:xfrm>
            <a:off x="1091368" y="4520053"/>
            <a:ext cx="1691640" cy="9601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0545D4E8-C14D-879F-0863-18267817CC98}"/>
              </a:ext>
            </a:extLst>
          </p:cNvPr>
          <p:cNvSpPr txBox="1"/>
          <p:nvPr/>
        </p:nvSpPr>
        <p:spPr>
          <a:xfrm>
            <a:off x="1164520" y="4611493"/>
            <a:ext cx="1545336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102A43"/>
                </a:solidFill>
                <a:latin typeface="Microsoft YaHei"/>
              </a:defRPr>
            </a:pPr>
            <a:r>
              <a:rPr sz="11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PC-A</a:t>
            </a: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9E002BE0-E00D-ACB1-76B3-68ACB53A2613}"/>
              </a:ext>
            </a:extLst>
          </p:cNvPr>
          <p:cNvSpPr txBox="1"/>
          <p:nvPr/>
        </p:nvSpPr>
        <p:spPr>
          <a:xfrm>
            <a:off x="1146232" y="4958965"/>
            <a:ext cx="1581912" cy="7325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475569"/>
                </a:solidFill>
                <a:latin typeface="Microsoft YaHei"/>
              </a:defRPr>
            </a:pPr>
            <a:r>
              <a:rPr sz="202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192.168.1.10</a:t>
            </a:r>
          </a:p>
        </p:txBody>
      </p:sp>
      <p:sp>
        <p:nvSpPr>
          <p:cNvPr id="15" name="Rounded Rectangle 11">
            <a:extLst>
              <a:ext uri="{FF2B5EF4-FFF2-40B4-BE49-F238E27FC236}">
                <a16:creationId xmlns:a16="http://schemas.microsoft.com/office/drawing/2014/main" id="{665AA493-0C84-0036-CF25-84573329809A}"/>
              </a:ext>
            </a:extLst>
          </p:cNvPr>
          <p:cNvSpPr/>
          <p:nvPr/>
        </p:nvSpPr>
        <p:spPr>
          <a:xfrm>
            <a:off x="3377368" y="4520053"/>
            <a:ext cx="1691640" cy="9601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082411B8-BAD5-1D63-E032-A34C24653656}"/>
              </a:ext>
            </a:extLst>
          </p:cNvPr>
          <p:cNvSpPr txBox="1"/>
          <p:nvPr/>
        </p:nvSpPr>
        <p:spPr>
          <a:xfrm>
            <a:off x="3450520" y="4611493"/>
            <a:ext cx="1545336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102A43"/>
                </a:solidFill>
                <a:latin typeface="Microsoft YaHei"/>
              </a:defRPr>
            </a:pPr>
            <a:r>
              <a:rPr sz="11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R1</a:t>
            </a: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F9187583-8AFD-636A-DBE1-BF1B3F6C2391}"/>
              </a:ext>
            </a:extLst>
          </p:cNvPr>
          <p:cNvSpPr txBox="1"/>
          <p:nvPr/>
        </p:nvSpPr>
        <p:spPr>
          <a:xfrm>
            <a:off x="3432232" y="4958965"/>
            <a:ext cx="1581912" cy="4216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475569"/>
                </a:solidFill>
                <a:latin typeface="Microsoft YaHei"/>
              </a:defRPr>
            </a:pPr>
            <a:r>
              <a:rPr sz="202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192.168.1.1</a:t>
            </a:r>
          </a:p>
        </p:txBody>
      </p:sp>
      <p:sp>
        <p:nvSpPr>
          <p:cNvPr id="18" name="Rounded Rectangle 14">
            <a:extLst>
              <a:ext uri="{FF2B5EF4-FFF2-40B4-BE49-F238E27FC236}">
                <a16:creationId xmlns:a16="http://schemas.microsoft.com/office/drawing/2014/main" id="{EA462929-0D6D-EB54-94B3-CACF1360EDFD}"/>
              </a:ext>
            </a:extLst>
          </p:cNvPr>
          <p:cNvSpPr/>
          <p:nvPr/>
        </p:nvSpPr>
        <p:spPr>
          <a:xfrm>
            <a:off x="5891968" y="4520053"/>
            <a:ext cx="1691640" cy="96012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39CB14B5-631D-0F45-23CC-AAF3A070DB8E}"/>
              </a:ext>
            </a:extLst>
          </p:cNvPr>
          <p:cNvSpPr txBox="1"/>
          <p:nvPr/>
        </p:nvSpPr>
        <p:spPr>
          <a:xfrm>
            <a:off x="5965120" y="4611493"/>
            <a:ext cx="1545336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102A43"/>
                </a:solidFill>
                <a:latin typeface="Microsoft YaHei"/>
              </a:defRPr>
            </a:pPr>
            <a:r>
              <a:rPr sz="11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R2 / next hop</a:t>
            </a: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ECB20584-A31D-7862-CFFA-EA8E2E252039}"/>
              </a:ext>
            </a:extLst>
          </p:cNvPr>
          <p:cNvSpPr txBox="1"/>
          <p:nvPr/>
        </p:nvSpPr>
        <p:spPr>
          <a:xfrm>
            <a:off x="5946832" y="4958965"/>
            <a:ext cx="1581912" cy="4216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475569"/>
                </a:solidFill>
                <a:latin typeface="Microsoft YaHei"/>
              </a:defRPr>
            </a:pPr>
            <a:r>
              <a:rPr sz="202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10.0.0.2</a:t>
            </a:r>
          </a:p>
        </p:txBody>
      </p:sp>
      <p:sp>
        <p:nvSpPr>
          <p:cNvPr id="21" name="Rounded Rectangle 17">
            <a:extLst>
              <a:ext uri="{FF2B5EF4-FFF2-40B4-BE49-F238E27FC236}">
                <a16:creationId xmlns:a16="http://schemas.microsoft.com/office/drawing/2014/main" id="{938BFD61-095B-6B8E-EF72-6C8ABE02B000}"/>
              </a:ext>
            </a:extLst>
          </p:cNvPr>
          <p:cNvSpPr/>
          <p:nvPr/>
        </p:nvSpPr>
        <p:spPr>
          <a:xfrm>
            <a:off x="8818048" y="4520053"/>
            <a:ext cx="1691640" cy="9601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3CC40060-0EB0-ED55-A3D9-FDDA97AE4750}"/>
              </a:ext>
            </a:extLst>
          </p:cNvPr>
          <p:cNvSpPr txBox="1"/>
          <p:nvPr/>
        </p:nvSpPr>
        <p:spPr>
          <a:xfrm>
            <a:off x="8891200" y="4611493"/>
            <a:ext cx="1545336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102A43"/>
                </a:solidFill>
                <a:latin typeface="Microsoft YaHei"/>
              </a:defRPr>
            </a:pPr>
            <a:r>
              <a:rPr sz="11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PC-B</a:t>
            </a:r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366FE3A6-6718-9AFD-3B89-1F92DF31239F}"/>
              </a:ext>
            </a:extLst>
          </p:cNvPr>
          <p:cNvSpPr txBox="1"/>
          <p:nvPr/>
        </p:nvSpPr>
        <p:spPr>
          <a:xfrm>
            <a:off x="8872912" y="4958965"/>
            <a:ext cx="1581912" cy="7325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475569"/>
                </a:solidFill>
                <a:latin typeface="Microsoft YaHei"/>
              </a:defRPr>
            </a:pPr>
            <a:r>
              <a:rPr sz="202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192.168.2.20</a:t>
            </a:r>
          </a:p>
        </p:txBody>
      </p:sp>
      <p:cxnSp>
        <p:nvCxnSpPr>
          <p:cNvPr id="24" name="Connector 20">
            <a:extLst>
              <a:ext uri="{FF2B5EF4-FFF2-40B4-BE49-F238E27FC236}">
                <a16:creationId xmlns:a16="http://schemas.microsoft.com/office/drawing/2014/main" id="{5B345AE4-AB42-B9BE-6130-4002EEB5B560}"/>
              </a:ext>
            </a:extLst>
          </p:cNvPr>
          <p:cNvCxnSpPr/>
          <p:nvPr/>
        </p:nvCxnSpPr>
        <p:spPr>
          <a:xfrm>
            <a:off x="2783008" y="5004685"/>
            <a:ext cx="594360" cy="0"/>
          </a:xfrm>
          <a:prstGeom prst="line">
            <a:avLst/>
          </a:prstGeom>
          <a:ln w="25400">
            <a:solidFill>
              <a:srgbClr val="0D9488"/>
            </a:solidFill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1">
            <a:extLst>
              <a:ext uri="{FF2B5EF4-FFF2-40B4-BE49-F238E27FC236}">
                <a16:creationId xmlns:a16="http://schemas.microsoft.com/office/drawing/2014/main" id="{8815CE80-5D67-B325-BFE4-C7CB39AE9377}"/>
              </a:ext>
            </a:extLst>
          </p:cNvPr>
          <p:cNvCxnSpPr/>
          <p:nvPr/>
        </p:nvCxnSpPr>
        <p:spPr>
          <a:xfrm>
            <a:off x="5069008" y="5004685"/>
            <a:ext cx="822960" cy="0"/>
          </a:xfrm>
          <a:prstGeom prst="line">
            <a:avLst/>
          </a:prstGeom>
          <a:ln w="25400">
            <a:solidFill>
              <a:srgbClr val="0D9488"/>
            </a:solidFill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2">
            <a:extLst>
              <a:ext uri="{FF2B5EF4-FFF2-40B4-BE49-F238E27FC236}">
                <a16:creationId xmlns:a16="http://schemas.microsoft.com/office/drawing/2014/main" id="{B7303873-DD6C-6212-8B3C-53FC25333654}"/>
              </a:ext>
            </a:extLst>
          </p:cNvPr>
          <p:cNvCxnSpPr/>
          <p:nvPr/>
        </p:nvCxnSpPr>
        <p:spPr>
          <a:xfrm>
            <a:off x="7583608" y="5004685"/>
            <a:ext cx="1234440" cy="0"/>
          </a:xfrm>
          <a:prstGeom prst="line">
            <a:avLst/>
          </a:prstGeom>
          <a:ln w="25400">
            <a:solidFill>
              <a:srgbClr val="0D9488"/>
            </a:solidFill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3">
            <a:extLst>
              <a:ext uri="{FF2B5EF4-FFF2-40B4-BE49-F238E27FC236}">
                <a16:creationId xmlns:a16="http://schemas.microsoft.com/office/drawing/2014/main" id="{EAD690A8-3C67-F258-72FF-2466C1944CB2}"/>
              </a:ext>
            </a:extLst>
          </p:cNvPr>
          <p:cNvSpPr txBox="1"/>
          <p:nvPr/>
        </p:nvSpPr>
        <p:spPr>
          <a:xfrm>
            <a:off x="1228528" y="5708773"/>
            <a:ext cx="15544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300" b="0" i="0">
                <a:solidFill>
                  <a:srgbClr val="475569"/>
                </a:solidFill>
                <a:latin typeface="Microsoft YaHei"/>
              </a:defRPr>
            </a:pPr>
            <a:r>
              <a:rPr sz="10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Check subnet</a:t>
            </a:r>
          </a:p>
        </p:txBody>
      </p:sp>
      <p:sp>
        <p:nvSpPr>
          <p:cNvPr id="28" name="TextBox 24">
            <a:extLst>
              <a:ext uri="{FF2B5EF4-FFF2-40B4-BE49-F238E27FC236}">
                <a16:creationId xmlns:a16="http://schemas.microsoft.com/office/drawing/2014/main" id="{5B716019-7CEA-99ED-8965-39E0C16402DE}"/>
              </a:ext>
            </a:extLst>
          </p:cNvPr>
          <p:cNvSpPr txBox="1"/>
          <p:nvPr/>
        </p:nvSpPr>
        <p:spPr>
          <a:xfrm>
            <a:off x="3423088" y="5708773"/>
            <a:ext cx="15544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300" b="0" i="0">
                <a:solidFill>
                  <a:srgbClr val="475569"/>
                </a:solidFill>
                <a:latin typeface="Microsoft YaHei"/>
              </a:defRPr>
            </a:pPr>
            <a:r>
              <a:rPr sz="10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Look up route</a:t>
            </a:r>
          </a:p>
        </p:txBody>
      </p:sp>
      <p:sp>
        <p:nvSpPr>
          <p:cNvPr id="29" name="TextBox 25">
            <a:extLst>
              <a:ext uri="{FF2B5EF4-FFF2-40B4-BE49-F238E27FC236}">
                <a16:creationId xmlns:a16="http://schemas.microsoft.com/office/drawing/2014/main" id="{043A22D2-C0EC-AE5F-7C41-4161CCB136DE}"/>
              </a:ext>
            </a:extLst>
          </p:cNvPr>
          <p:cNvSpPr txBox="1"/>
          <p:nvPr/>
        </p:nvSpPr>
        <p:spPr>
          <a:xfrm>
            <a:off x="5891968" y="5708773"/>
            <a:ext cx="1645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300" b="0" i="0">
                <a:solidFill>
                  <a:srgbClr val="475569"/>
                </a:solidFill>
                <a:latin typeface="Microsoft YaHei"/>
              </a:defRPr>
            </a:pPr>
            <a:r>
              <a:rPr sz="10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Forward to next hop</a:t>
            </a: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B3816C72-FF44-F86A-E789-84BF094A3BF1}"/>
              </a:ext>
            </a:extLst>
          </p:cNvPr>
          <p:cNvSpPr txBox="1"/>
          <p:nvPr/>
        </p:nvSpPr>
        <p:spPr>
          <a:xfrm>
            <a:off x="8818048" y="5708773"/>
            <a:ext cx="15544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300" b="0" i="0">
                <a:solidFill>
                  <a:srgbClr val="475569"/>
                </a:solidFill>
                <a:latin typeface="Microsoft YaHei"/>
              </a:defRPr>
            </a:pPr>
            <a:r>
              <a:rPr sz="10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Deliver to target</a:t>
            </a:r>
          </a:p>
        </p:txBody>
      </p:sp>
      <p:sp>
        <p:nvSpPr>
          <p:cNvPr id="31" name="TextBox 27">
            <a:extLst>
              <a:ext uri="{FF2B5EF4-FFF2-40B4-BE49-F238E27FC236}">
                <a16:creationId xmlns:a16="http://schemas.microsoft.com/office/drawing/2014/main" id="{38C69E84-0746-02B2-6655-6EABEAB35172}"/>
              </a:ext>
            </a:extLst>
          </p:cNvPr>
          <p:cNvSpPr txBox="1"/>
          <p:nvPr/>
        </p:nvSpPr>
        <p:spPr>
          <a:xfrm>
            <a:off x="5052622" y="1725282"/>
            <a:ext cx="7002218" cy="2265236"/>
          </a:xfrm>
          <a:prstGeom prst="rect">
            <a:avLst/>
          </a:prstGeom>
          <a:noFill/>
        </p:spPr>
        <p:txBody>
          <a:bodyPr wrap="square" tIns="73152" rIns="73152" bIns="36576">
            <a:spAutoFit/>
          </a:bodyPr>
          <a:lstStyle/>
          <a:p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Four steps:</a:t>
            </a:r>
          </a:p>
          <a:p>
            <a:pPr lvl="0"/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PC-A checks whether the destination is in the local subnet.</a:t>
            </a:r>
          </a:p>
          <a:p>
            <a:pPr lvl="0"/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PC-A resolves the MAC address of the default gateway.</a:t>
            </a:r>
          </a:p>
          <a:p>
            <a:pPr lvl="0"/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Router R1 receives the packet and looks up its route.</a:t>
            </a:r>
          </a:p>
          <a:p>
            <a:pPr lvl="0"/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The packet crosses the far-side link and is delivered to PC-B.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2A56CF-B139-E582-874C-04F49C124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004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66928" y="576072"/>
            <a:ext cx="10972800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800" b="1" i="0">
                <a:solidFill>
                  <a:srgbClr val="102A43"/>
                </a:solidFill>
                <a:latin typeface="Microsoft YaHei"/>
              </a:defRPr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ARP: we know the next-hop IP — how do we find its MAC?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45920"/>
            <a:ext cx="2834640" cy="10515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44880" y="1847088"/>
            <a:ext cx="24688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2000" b="1" i="0">
                <a:solidFill>
                  <a:srgbClr val="102A43"/>
                </a:solidFill>
                <a:latin typeface="Microsoft YaHei"/>
              </a:defRPr>
            </a:pPr>
            <a:r>
              <a:rPr sz="11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PC-A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12848"/>
            <a:ext cx="2468880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300" b="0" i="0">
                <a:solidFill>
                  <a:srgbClr val="475569"/>
                </a:solidFill>
                <a:latin typeface="Microsoft YaHei"/>
              </a:defRPr>
            </a:pPr>
            <a:r>
              <a:rPr sz="9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192.168.1.10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645920"/>
            <a:ext cx="2834640" cy="10515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95360" y="1847088"/>
            <a:ext cx="24688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2000" b="1" i="0">
                <a:solidFill>
                  <a:srgbClr val="102A43"/>
                </a:solidFill>
                <a:latin typeface="Microsoft YaHei"/>
              </a:defRPr>
            </a:pPr>
            <a:r>
              <a:rPr sz="11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Default gateway R1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212848"/>
            <a:ext cx="2468880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300" b="0" i="0">
                <a:solidFill>
                  <a:srgbClr val="475569"/>
                </a:solidFill>
                <a:latin typeface="Microsoft YaHei"/>
              </a:defRPr>
            </a:pPr>
            <a:r>
              <a:rPr sz="9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192.168.1.1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11880" y="1993392"/>
            <a:ext cx="4754880" cy="0"/>
          </a:xfrm>
          <a:prstGeom prst="line">
            <a:avLst/>
          </a:prstGeom>
          <a:ln w="25400">
            <a:solidFill>
              <a:srgbClr val="0D9488"/>
            </a:solidFill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657600" y="1600200"/>
            <a:ext cx="466344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0D9488"/>
                </a:solidFill>
                <a:latin typeface="Microsoft YaHei"/>
              </a:defRPr>
            </a:pPr>
            <a:r>
              <a:rPr sz="11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ARP Request: who has 192.168.1.1?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611880" y="2514600"/>
            <a:ext cx="4754880" cy="0"/>
          </a:xfrm>
          <a:prstGeom prst="line">
            <a:avLst/>
          </a:prstGeom>
          <a:ln w="25400">
            <a:solidFill>
              <a:srgbClr val="F59E0B"/>
            </a:solidFill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57600" y="2651760"/>
            <a:ext cx="4663440" cy="5724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300" b="1" i="0">
                <a:solidFill>
                  <a:srgbClr val="F59E0B"/>
                </a:solidFill>
                <a:latin typeface="Microsoft YaHei"/>
              </a:defRPr>
            </a:pPr>
            <a:r>
              <a:rPr sz="15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ARP Reply: 192.168.1.1 is at AA:AA:AA:AA:AA:01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57600"/>
            <a:ext cx="10058400" cy="1649682"/>
          </a:xfrm>
          <a:prstGeom prst="rect">
            <a:avLst/>
          </a:prstGeom>
          <a:noFill/>
        </p:spPr>
        <p:txBody>
          <a:bodyPr wrap="square" tIns="73152" rIns="73152" bIns="36576">
            <a:spAutoFit/>
          </a:bodyPr>
          <a:lstStyle/>
          <a:p>
            <a:pPr>
              <a:buChar char="•"/>
              <a:defRPr sz="1600">
                <a:solidFill>
                  <a:srgbClr val="1E293B"/>
                </a:solidFill>
                <a:latin typeface="Microsoft YaHei"/>
              </a:defRPr>
            </a:pPr>
            <a:r>
              <a:rPr sz="20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ARP Request: asks by broadcast which device on the local link owns an IPv4 address.</a:t>
            </a:r>
          </a:p>
          <a:p>
            <a:pPr>
              <a:buChar char="•"/>
              <a:defRPr sz="1600">
                <a:solidFill>
                  <a:srgbClr val="1E293B"/>
                </a:solidFill>
                <a:latin typeface="Microsoft YaHei"/>
              </a:defRPr>
            </a:pPr>
            <a:r>
              <a:rPr sz="20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ARP Reply: returns the matching MAC address by unicast.</a:t>
            </a:r>
          </a:p>
          <a:p>
            <a:pPr>
              <a:buChar char="•"/>
              <a:defRPr sz="1600">
                <a:solidFill>
                  <a:srgbClr val="1E293B"/>
                </a:solidFill>
                <a:latin typeface="Microsoft YaHei"/>
              </a:defRPr>
            </a:pPr>
            <a:r>
              <a:rPr sz="20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ARP Cache: the resolved result is cached so we do not broadcast on every conversation.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05902A0-FE6A-5BD8-6E97-248458088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66271-9C23-7CBA-3F6F-DB81AA521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8232F7-D1D0-9768-D16F-97C92D457B98}"/>
              </a:ext>
            </a:extLst>
          </p:cNvPr>
          <p:cNvSpPr txBox="1"/>
          <p:nvPr/>
        </p:nvSpPr>
        <p:spPr>
          <a:xfrm>
            <a:off x="566928" y="576072"/>
            <a:ext cx="10972800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800" b="1" i="0">
                <a:solidFill>
                  <a:srgbClr val="102A43"/>
                </a:solidFill>
                <a:latin typeface="Microsoft YaHei"/>
              </a:defRPr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ARP: we know the next-hop IP — how do we find its MAC?</a:t>
            </a:r>
          </a:p>
        </p:txBody>
      </p:sp>
      <p:pic>
        <p:nvPicPr>
          <p:cNvPr id="2" name="图片 1" descr="TryHackMe Wireshark:Traffic Analysis — Task 3 ARP Poisoning &amp; Man In The Middle and Task 4 Identifying Hosts: DHCP, NetBIOS and Kerberos | Haircutfish">
            <a:extLst>
              <a:ext uri="{FF2B5EF4-FFF2-40B4-BE49-F238E27FC236}">
                <a16:creationId xmlns:a16="http://schemas.microsoft.com/office/drawing/2014/main" id="{CFB9C48E-9228-4F3B-1316-A5215D10E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39373"/>
            <a:ext cx="5334000" cy="399097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F9A1F38-773D-17B1-2516-0BE39CCF5E5D}"/>
              </a:ext>
            </a:extLst>
          </p:cNvPr>
          <p:cNvSpPr txBox="1"/>
          <p:nvPr/>
        </p:nvSpPr>
        <p:spPr>
          <a:xfrm>
            <a:off x="6523538" y="1539373"/>
            <a:ext cx="514887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① ARP Request: the query</a:t>
            </a:r>
          </a:p>
          <a:p>
            <a:pPr lvl="0"/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② ARP Reply: returns the MAC address</a:t>
            </a:r>
          </a:p>
          <a:p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DB743D5-4A05-BC81-94DE-0DDD9457E41A}"/>
              </a:ext>
            </a:extLst>
          </p:cNvPr>
          <p:cNvSpPr txBox="1"/>
          <p:nvPr/>
        </p:nvSpPr>
        <p:spPr>
          <a:xfrm>
            <a:off x="6167597" y="2733304"/>
            <a:ext cx="591598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When a host knows the target IP but not the target device's MAC address, it must perform address resolution.</a:t>
            </a:r>
          </a:p>
          <a:p>
            <a:pPr lvl="0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An ARP Request asks for the MAC address that belongs to a target IP.</a:t>
            </a:r>
          </a:p>
          <a:p>
            <a:pPr lvl="0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An ARP Reply returns that MAC address.</a:t>
            </a:r>
          </a:p>
          <a:p>
            <a:pPr lvl="0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Only after it has the MAC address can the host build and send the Ethernet frame on the local link.</a:t>
            </a:r>
          </a:p>
          <a:p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D69003-BD8D-10AD-DB28-97A732546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589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9FB97-74E4-D18E-5DE5-A19A3C8CE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521B12-6518-F849-026D-83C1770D604E}"/>
              </a:ext>
            </a:extLst>
          </p:cNvPr>
          <p:cNvSpPr txBox="1"/>
          <p:nvPr/>
        </p:nvSpPr>
        <p:spPr>
          <a:xfrm>
            <a:off x="566928" y="576072"/>
            <a:ext cx="10972800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800" b="1" i="0">
                <a:solidFill>
                  <a:srgbClr val="102A43"/>
                </a:solidFill>
                <a:latin typeface="Microsoft YaHei"/>
              </a:defRPr>
            </a:pPr>
            <a:r>
              <a:rPr lang="zh-CN" altLang="zh-CN" sz="2750" b="1" dirty="0">
                <a:solidFill>
                  <a:srgbClr val="102A4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ICMP — how does a ping complete its round trip?</a:t>
            </a:r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71AD9A-779F-31A9-AFF3-92826BC79201}"/>
              </a:ext>
            </a:extLst>
          </p:cNvPr>
          <p:cNvSpPr txBox="1"/>
          <p:nvPr/>
        </p:nvSpPr>
        <p:spPr>
          <a:xfrm>
            <a:off x="5535495" y="1268658"/>
            <a:ext cx="60042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① Echo Request: the query message</a:t>
            </a:r>
          </a:p>
          <a:p>
            <a:pPr lvl="0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② Echo Reply: the answer message</a:t>
            </a:r>
          </a:p>
          <a:p>
            <a:pPr lvl="0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③ Source / Destination: direction of the exchange</a:t>
            </a:r>
          </a:p>
          <a:p>
            <a:pPr lvl="0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④ Sequence Number: the clue that matches reply to request</a:t>
            </a:r>
          </a:p>
          <a:p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2563C39-0569-787E-C1BC-96505D63EE72}"/>
              </a:ext>
            </a:extLst>
          </p:cNvPr>
          <p:cNvSpPr txBox="1"/>
          <p:nvPr/>
        </p:nvSpPr>
        <p:spPr>
          <a:xfrm>
            <a:off x="5407215" y="3099141"/>
            <a:ext cx="66088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Ping normally uses an ICMP Echo Request to test whether a target host responds.</a:t>
            </a:r>
          </a:p>
          <a:p>
            <a:pPr lvl="0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When the target receives the request, it returns an ICMP Echo Reply if it is allowed and able to.</a:t>
            </a:r>
          </a:p>
          <a:p>
            <a:pPr lvl="0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The source and destination IP addresses of the request and the reply point in opposite directions.</a:t>
            </a:r>
          </a:p>
          <a:p>
            <a:pPr lvl="0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The Identifier and Sequence Number fields let us match each reply to its request.</a:t>
            </a:r>
          </a:p>
          <a:p>
            <a:endParaRPr lang="zh-CN" altLang="en-US" dirty="0">
              <a:latin typeface="微软雅黑" panose="020B0503020204020204" pitchFamily="34" charset="-122"/>
            </a:endParaRPr>
          </a:p>
        </p:txBody>
      </p:sp>
      <p:pic>
        <p:nvPicPr>
          <p:cNvPr id="6" name="图片 5" descr="以PING为例，利用Wireshark深入理解网络层、数据链路层的工作原理 -2020.10.30 - Link_Chen - 博客园">
            <a:extLst>
              <a:ext uri="{FF2B5EF4-FFF2-40B4-BE49-F238E27FC236}">
                <a16:creationId xmlns:a16="http://schemas.microsoft.com/office/drawing/2014/main" id="{95DAE4A6-1E87-7605-5011-A8A94B2B4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02" y="1306472"/>
            <a:ext cx="4959813" cy="4100993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AB5BCD0-1A1B-0283-ED8D-2BFA2484B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5606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8725A-2064-9193-ECF1-A699EF1D6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65A32F-C20A-E80C-BAD4-8EC084FC9A3A}"/>
              </a:ext>
            </a:extLst>
          </p:cNvPr>
          <p:cNvSpPr txBox="1"/>
          <p:nvPr/>
        </p:nvSpPr>
        <p:spPr>
          <a:xfrm>
            <a:off x="566928" y="576072"/>
            <a:ext cx="10972800" cy="5416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2800" b="1" i="0">
                <a:solidFill>
                  <a:srgbClr val="102A43"/>
                </a:solidFill>
                <a:latin typeface="Microsoft YaHei"/>
              </a:defRPr>
            </a:pPr>
            <a:r>
              <a:rPr lang="zh-CN" altLang="zh-CN" sz="2750" b="1" dirty="0">
                <a:solidFill>
                  <a:srgbClr val="102A4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Opening a Packet — Reading the Protocol Fields</a:t>
            </a:r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D656F60-15CA-36AD-B333-B31BEAF2C446}"/>
              </a:ext>
            </a:extLst>
          </p:cNvPr>
          <p:cNvSpPr txBox="1"/>
          <p:nvPr/>
        </p:nvSpPr>
        <p:spPr>
          <a:xfrm>
            <a:off x="5764893" y="1268658"/>
            <a:ext cx="57748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① Ethernet II: source and destination MAC addresses</a:t>
            </a:r>
          </a:p>
          <a:p>
            <a:pPr lvl="0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② Internet Protocol: source and destination IP addresses</a:t>
            </a:r>
          </a:p>
          <a:p>
            <a:pPr lvl="0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③ ICMP: Type, Code, Sequence Number</a:t>
            </a:r>
          </a:p>
          <a:p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FE39447-928A-9126-0109-322C76B65FD6}"/>
              </a:ext>
            </a:extLst>
          </p:cNvPr>
          <p:cNvSpPr txBox="1"/>
          <p:nvPr/>
        </p:nvSpPr>
        <p:spPr>
          <a:xfrm>
            <a:off x="5541633" y="3420348"/>
            <a:ext cx="64776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Wireshark's packet details pane expands the protocol fields layer by layer:</a:t>
            </a:r>
          </a:p>
          <a:p>
            <a:pPr lvl="0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Ethernet layer: check the Layer 2 source and destination MAC.</a:t>
            </a:r>
          </a:p>
          <a:p>
            <a:pPr lvl="0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IP layer: check the source IP, destination IP and TTL.</a:t>
            </a:r>
          </a:p>
          <a:p>
            <a:pPr lvl="0"/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ICMP layer: check the message type and sequence number.</a:t>
            </a:r>
          </a:p>
          <a:p>
            <a:endParaRPr lang="zh-CN" altLang="en-US" dirty="0">
              <a:latin typeface="微软雅黑" panose="020B0503020204020204" pitchFamily="34" charset="-122"/>
            </a:endParaRPr>
          </a:p>
        </p:txBody>
      </p:sp>
      <p:pic>
        <p:nvPicPr>
          <p:cNvPr id="2" name="图片 1" descr="IPv4协议与ICMPv4协议实验报告_tracert命令icmp协议分析实训报告-CSDN博客">
            <a:extLst>
              <a:ext uri="{FF2B5EF4-FFF2-40B4-BE49-F238E27FC236}">
                <a16:creationId xmlns:a16="http://schemas.microsoft.com/office/drawing/2014/main" id="{FEE845EE-4ED6-FC98-0FD7-5832ADD26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77" y="1256993"/>
            <a:ext cx="5215528" cy="4344013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6EB88D-F517-F814-EA1E-45D0FB2F7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5047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66928" y="576072"/>
            <a:ext cx="10972800" cy="4216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800" b="1" i="0">
                <a:solidFill>
                  <a:srgbClr val="102A43"/>
                </a:solidFill>
                <a:latin typeface="Microsoft YaHei"/>
              </a:defRPr>
            </a:pPr>
            <a:r>
              <a:rPr sz="202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How does a Layer 2 switch forward Ethernet frames?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148840"/>
            <a:ext cx="2926080" cy="9601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54880" y="2331720"/>
            <a:ext cx="25603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2100" b="1" i="0">
                <a:solidFill>
                  <a:srgbClr val="102A43"/>
                </a:solidFill>
                <a:latin typeface="Microsoft YaHei"/>
              </a:defRPr>
            </a:pPr>
            <a:r>
              <a:rPr sz="13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L2 Switch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600200"/>
            <a:ext cx="1828800" cy="777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6112" y="1691640"/>
            <a:ext cx="1682496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102A43"/>
                </a:solidFill>
                <a:latin typeface="Microsoft YaHei"/>
              </a:defRPr>
            </a:pPr>
            <a:r>
              <a:rPr sz="11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PC-A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039112"/>
            <a:ext cx="1719072" cy="30175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475569"/>
                </a:solidFill>
                <a:latin typeface="Microsoft YaHei"/>
              </a:defRPr>
            </a:pPr>
            <a:r>
              <a:rPr sz="12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MAC-A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1984248"/>
            <a:ext cx="1920240" cy="649224"/>
          </a:xfrm>
          <a:prstGeom prst="line">
            <a:avLst/>
          </a:prstGeom>
          <a:ln w="2159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960" y="3749039"/>
            <a:ext cx="1828800" cy="777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96112" y="3840479"/>
            <a:ext cx="1682496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102A43"/>
                </a:solidFill>
                <a:latin typeface="Microsoft YaHei"/>
              </a:defRPr>
            </a:pPr>
            <a:r>
              <a:rPr sz="11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PC-B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187952"/>
            <a:ext cx="1719072" cy="30175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475569"/>
                </a:solidFill>
                <a:latin typeface="Microsoft YaHei"/>
              </a:defRPr>
            </a:pPr>
            <a:r>
              <a:rPr sz="12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MAC-B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651760" y="2633472"/>
            <a:ext cx="1920240" cy="1499615"/>
          </a:xfrm>
          <a:prstGeom prst="line">
            <a:avLst/>
          </a:prstGeom>
          <a:ln w="2159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412480" y="1600200"/>
            <a:ext cx="1828800" cy="777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485632" y="1691640"/>
            <a:ext cx="1682496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102A43"/>
                </a:solidFill>
                <a:latin typeface="Microsoft YaHei"/>
              </a:defRPr>
            </a:pPr>
            <a:r>
              <a:rPr sz="11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PC-C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2039112"/>
            <a:ext cx="1719072" cy="30175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475569"/>
                </a:solidFill>
                <a:latin typeface="Microsoft YaHei"/>
              </a:defRPr>
            </a:pPr>
            <a:r>
              <a:rPr sz="12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MAC-C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7498079" y="1984248"/>
            <a:ext cx="914401" cy="649224"/>
          </a:xfrm>
          <a:prstGeom prst="line">
            <a:avLst/>
          </a:prstGeom>
          <a:ln w="2159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412480" y="3749039"/>
            <a:ext cx="1828800" cy="7772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485632" y="3840479"/>
            <a:ext cx="1682496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500" b="1" i="0">
                <a:solidFill>
                  <a:srgbClr val="102A43"/>
                </a:solidFill>
                <a:latin typeface="Microsoft YaHei"/>
              </a:defRPr>
            </a:pPr>
            <a:r>
              <a:rPr sz="11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R1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4187952"/>
            <a:ext cx="1719072" cy="30175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475569"/>
                </a:solidFill>
                <a:latin typeface="Microsoft YaHei"/>
              </a:defRPr>
            </a:pPr>
            <a:r>
              <a:rPr sz="12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Gateway MAC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98079" y="2633472"/>
            <a:ext cx="914401" cy="1499615"/>
          </a:xfrm>
          <a:prstGeom prst="line">
            <a:avLst/>
          </a:prstGeom>
          <a:ln w="2159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526280" y="4023360"/>
            <a:ext cx="3017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754880" y="4160520"/>
            <a:ext cx="2560320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600" b="1" i="0">
                <a:solidFill>
                  <a:srgbClr val="102A43"/>
                </a:solidFill>
                <a:latin typeface="Microsoft YaHei"/>
              </a:defRPr>
            </a:pPr>
            <a:r>
              <a:rPr sz="9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MAC address 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4462272"/>
            <a:ext cx="2560320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300" b="0" i="0">
                <a:solidFill>
                  <a:srgbClr val="475569"/>
                </a:solidFill>
                <a:latin typeface="Microsoft YaHei"/>
              </a:defRPr>
            </a:pPr>
            <a:r>
              <a:rPr sz="9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MAC → port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6839D28-3D20-9238-9EED-C9B36831A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627323"/>
              </p:ext>
            </p:extLst>
          </p:nvPr>
        </p:nvGraphicFramePr>
        <p:xfrm>
          <a:off x="512318" y="1353312"/>
          <a:ext cx="11057381" cy="36631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1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6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69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07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207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602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Link segment</a:t>
                      </a:r>
                    </a:p>
                  </a:txBody>
                  <a:tcPr marL="73152" marR="54864" marT="36576" marB="36576"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Source IP</a:t>
                      </a:r>
                    </a:p>
                  </a:txBody>
                  <a:tcPr marL="73152" marR="54864" marT="36576" marB="36576"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Destination IP</a:t>
                      </a:r>
                    </a:p>
                  </a:txBody>
                  <a:tcPr marL="73152" marR="54864" marT="36576" marB="36576"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Source MAC</a:t>
                      </a:r>
                    </a:p>
                  </a:txBody>
                  <a:tcPr marL="73152" marR="54864" marT="36576" marB="36576"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Destination MAC</a:t>
                      </a:r>
                    </a:p>
                  </a:txBody>
                  <a:tcPr marL="73152" marR="54864" marT="36576" marB="36576" anchor="ctr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9843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PC-A → R1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192.168.1.10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192.168.2.20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PC-A MAC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R1 LAN MAC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3661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R1 → next hop</a:t>
                      </a:r>
                    </a:p>
                  </a:txBody>
                  <a:tcPr marL="73152" marR="54864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192.168.1.10</a:t>
                      </a:r>
                    </a:p>
                  </a:txBody>
                  <a:tcPr marL="73152" marR="54864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192.168.2.20</a:t>
                      </a:r>
                    </a:p>
                  </a:txBody>
                  <a:tcPr marL="73152" marR="54864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R1 egress MAC</a:t>
                      </a:r>
                    </a:p>
                  </a:txBody>
                  <a:tcPr marL="73152" marR="54864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Next-hop MAC</a:t>
                      </a:r>
                    </a:p>
                  </a:txBody>
                  <a:tcPr marL="73152" marR="54864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3661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Last hop → PC-B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192.168.1.10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192.168.2.20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Last router MAC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rPr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PC-B MAC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09244" y="4937760"/>
            <a:ext cx="4983480" cy="56692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5074920"/>
            <a:ext cx="466344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02A43"/>
                </a:solidFill>
                <a:latin typeface="Microsoft YaHei"/>
              </a:defRPr>
            </a:pP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IP address: the end-to-end Layer 3 destination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1" y="4937760"/>
            <a:ext cx="5670294" cy="56692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16650" y="5084064"/>
            <a:ext cx="541655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02A43"/>
                </a:solidFill>
                <a:latin typeface="Microsoft YaHei"/>
              </a:defRPr>
            </a:pP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MAC address: used to deliver the frame on the current link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155666D2-B0B5-2D48-5B03-477925D10E77}"/>
              </a:ext>
            </a:extLst>
          </p:cNvPr>
          <p:cNvSpPr/>
          <p:nvPr/>
        </p:nvSpPr>
        <p:spPr>
          <a:xfrm>
            <a:off x="426720" y="217339"/>
            <a:ext cx="566928" cy="635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8" name="TextBox 2">
            <a:extLst>
              <a:ext uri="{FF2B5EF4-FFF2-40B4-BE49-F238E27FC236}">
                <a16:creationId xmlns:a16="http://schemas.microsoft.com/office/drawing/2014/main" id="{6E32CF48-EB95-ED19-518C-FC8AFAB2A26F}"/>
              </a:ext>
            </a:extLst>
          </p:cNvPr>
          <p:cNvSpPr txBox="1"/>
          <p:nvPr/>
        </p:nvSpPr>
        <p:spPr>
          <a:xfrm>
            <a:off x="429768" y="400219"/>
            <a:ext cx="960120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50" b="1" dirty="0">
                <a:solidFill>
                  <a:srgbClr val="143C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Encapsulation and Hop-by-Hop Forwarding</a:t>
            </a:r>
            <a:endParaRPr sz="2900" b="1" dirty="0">
              <a:solidFill>
                <a:srgbClr val="143C6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F5AE58F1-9AE2-5367-9DB3-66406AEA33CA}"/>
              </a:ext>
            </a:extLst>
          </p:cNvPr>
          <p:cNvSpPr/>
          <p:nvPr/>
        </p:nvSpPr>
        <p:spPr>
          <a:xfrm>
            <a:off x="429768" y="932903"/>
            <a:ext cx="10725912" cy="1270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C8E598A-B6C3-3E8A-EBC0-09741F6F8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66928" y="576072"/>
            <a:ext cx="10972800" cy="4216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800" b="1" i="0">
                <a:solidFill>
                  <a:srgbClr val="102A43"/>
                </a:solidFill>
                <a:latin typeface="Microsoft YaHei"/>
              </a:defRPr>
            </a:pPr>
            <a:r>
              <a:rPr sz="202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TTL: why don't packets loop forever?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54864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000" b="1" i="0">
                <a:solidFill>
                  <a:srgbClr val="102A43"/>
                </a:solidFill>
                <a:latin typeface="Microsoft YaHei"/>
              </a:defRPr>
            </a:pP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TTL = Time To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5303520" cy="2313454"/>
          </a:xfrm>
          <a:prstGeom prst="rect">
            <a:avLst/>
          </a:prstGeom>
          <a:noFill/>
        </p:spPr>
        <p:txBody>
          <a:bodyPr wrap="square" tIns="73152" rIns="73152" bIns="36576">
            <a:spAutoFit/>
          </a:bodyPr>
          <a:lstStyle/>
          <a:p>
            <a:pPr>
              <a:buChar char="•"/>
              <a:defRPr sz="1600">
                <a:solidFill>
                  <a:srgbClr val="1E293B"/>
                </a:solidFill>
                <a:latin typeface="Microsoft YaHei"/>
              </a:defRPr>
            </a:pPr>
            <a:r>
              <a:rPr sz="1789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Field size: 8 bits in the IPv4 header.</a:t>
            </a:r>
          </a:p>
          <a:p>
            <a:pPr>
              <a:buChar char="•"/>
              <a:defRPr sz="1600">
                <a:solidFill>
                  <a:srgbClr val="1E293B"/>
                </a:solidFill>
                <a:latin typeface="Microsoft YaHei"/>
              </a:defRPr>
            </a:pPr>
            <a:r>
              <a:rPr sz="1789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Per hop: each router normally decrements the TTL by 1.</a:t>
            </a:r>
          </a:p>
          <a:p>
            <a:pPr>
              <a:buChar char="•"/>
              <a:defRPr sz="1600">
                <a:solidFill>
                  <a:srgbClr val="1E293B"/>
                </a:solidFill>
                <a:latin typeface="Microsoft YaHei"/>
              </a:defRPr>
            </a:pPr>
            <a:r>
              <a:rPr sz="1789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Loop prevention: once the TTL expires, the router drops the packet.</a:t>
            </a:r>
          </a:p>
          <a:p>
            <a:pPr>
              <a:buChar char="•"/>
              <a:defRPr sz="1600">
                <a:solidFill>
                  <a:srgbClr val="1E293B"/>
                </a:solidFill>
                <a:latin typeface="Microsoft YaHei"/>
              </a:defRPr>
            </a:pPr>
            <a:r>
              <a:rPr sz="1789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Common feedback: when the conditions are met, the router may return ICMP Time Exceeded.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423160"/>
            <a:ext cx="987552" cy="105156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46520" y="2606040"/>
            <a:ext cx="896112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2500" b="1" i="0">
                <a:solidFill>
                  <a:srgbClr val="0D9488"/>
                </a:solidFill>
                <a:latin typeface="Microsoft YaHei"/>
              </a:defRPr>
            </a:pP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3063240"/>
            <a:ext cx="950976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475569"/>
                </a:solidFill>
                <a:latin typeface="Microsoft YaHei"/>
              </a:defRPr>
            </a:pPr>
            <a:r>
              <a:rPr sz="9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Source host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88352" y="2926080"/>
            <a:ext cx="219456" cy="0"/>
          </a:xfrm>
          <a:prstGeom prst="line">
            <a:avLst/>
          </a:prstGeom>
          <a:ln w="19050">
            <a:solidFill>
              <a:srgbClr val="0D9488"/>
            </a:solidFill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635240" y="2423160"/>
            <a:ext cx="987552" cy="10515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80960" y="2606040"/>
            <a:ext cx="896112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2500" b="1" i="0">
                <a:solidFill>
                  <a:srgbClr val="0D9488"/>
                </a:solidFill>
                <a:latin typeface="Microsoft YaHei"/>
              </a:defRPr>
            </a:pP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3527" y="3063240"/>
            <a:ext cx="950976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475569"/>
                </a:solidFill>
                <a:latin typeface="Microsoft YaHei"/>
              </a:defRPr>
            </a:pPr>
            <a:r>
              <a:rPr sz="9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after R1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22792" y="2926080"/>
            <a:ext cx="219456" cy="0"/>
          </a:xfrm>
          <a:prstGeom prst="line">
            <a:avLst/>
          </a:prstGeom>
          <a:ln w="19050">
            <a:solidFill>
              <a:srgbClr val="0D9488"/>
            </a:solidFill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869680" y="2423160"/>
            <a:ext cx="987552" cy="10515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915400" y="2606040"/>
            <a:ext cx="896112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2500" b="1" i="0">
                <a:solidFill>
                  <a:srgbClr val="0D9488"/>
                </a:solidFill>
                <a:latin typeface="Microsoft YaHei"/>
              </a:defRPr>
            </a:pP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62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7967" y="3063240"/>
            <a:ext cx="950976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475569"/>
                </a:solidFill>
                <a:latin typeface="Microsoft YaHei"/>
              </a:defRPr>
            </a:pPr>
            <a:r>
              <a:rPr sz="9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after R2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857232" y="2926080"/>
            <a:ext cx="219456" cy="0"/>
          </a:xfrm>
          <a:prstGeom prst="line">
            <a:avLst/>
          </a:prstGeom>
          <a:ln w="19050">
            <a:solidFill>
              <a:srgbClr val="0D9488"/>
            </a:solidFill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104120" y="2423160"/>
            <a:ext cx="987552" cy="10515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149840" y="2606040"/>
            <a:ext cx="896112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2500" b="1" i="0">
                <a:solidFill>
                  <a:srgbClr val="0D9488"/>
                </a:solidFill>
                <a:latin typeface="Microsoft YaHei"/>
              </a:defRPr>
            </a:pP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22408" y="3063240"/>
            <a:ext cx="950976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475569"/>
                </a:solidFill>
                <a:latin typeface="Microsoft YaHei"/>
              </a:defRPr>
            </a:pPr>
            <a:r>
              <a:rPr sz="9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after R3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069080"/>
            <a:ext cx="4663440" cy="7772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83680" y="4270248"/>
            <a:ext cx="42976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800" b="1" i="0">
                <a:solidFill>
                  <a:srgbClr val="102A43"/>
                </a:solidFill>
                <a:latin typeface="Microsoft YaHei"/>
              </a:defRPr>
            </a:pPr>
            <a:r>
              <a:rPr sz="13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TTL expires → packet dropped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3656BB9-D716-016E-712A-2B63F8AEE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530E7-63A8-3DC0-9311-1F1677062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CB12C1-13EC-F369-4C11-2FD18A464F7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8ED5B5-9414-8443-B66E-191EF770E4EF}"/>
              </a:ext>
            </a:extLst>
          </p:cNvPr>
          <p:cNvSpPr/>
          <p:nvPr/>
        </p:nvSpPr>
        <p:spPr>
          <a:xfrm>
            <a:off x="1234440" y="2331720"/>
            <a:ext cx="777240" cy="762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9EC20C-562C-EF62-1B7D-60918D89A21B}"/>
              </a:ext>
            </a:extLst>
          </p:cNvPr>
          <p:cNvSpPr txBox="1"/>
          <p:nvPr/>
        </p:nvSpPr>
        <p:spPr>
          <a:xfrm>
            <a:off x="1234440" y="2697480"/>
            <a:ext cx="822960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1F9E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0</a:t>
            </a:r>
            <a:r>
              <a:rPr lang="en-US" sz="2400" b="1" dirty="0">
                <a:solidFill>
                  <a:srgbClr val="1F9E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4</a:t>
            </a:r>
            <a:endParaRPr sz="2400" b="1" dirty="0">
              <a:solidFill>
                <a:srgbClr val="1F9E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69D19D-6151-7ECF-8E13-C4B32F7DDA68}"/>
              </a:ext>
            </a:extLst>
          </p:cNvPr>
          <p:cNvSpPr txBox="1"/>
          <p:nvPr/>
        </p:nvSpPr>
        <p:spPr>
          <a:xfrm>
            <a:off x="1234439" y="3127248"/>
            <a:ext cx="10634349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dirty="0">
                <a:solidFill>
                  <a:srgbClr val="143C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Routing Decisions and Static Route Configuration</a:t>
            </a:r>
            <a:endParaRPr sz="3200" b="1" dirty="0">
              <a:solidFill>
                <a:srgbClr val="143C6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97F648-601A-5D69-A24B-CC82E77C4BEB}"/>
              </a:ext>
            </a:extLst>
          </p:cNvPr>
          <p:cNvSpPr txBox="1"/>
          <p:nvPr/>
        </p:nvSpPr>
        <p:spPr>
          <a:xfrm>
            <a:off x="1166934" y="4297680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sz="1300" b="0" dirty="0">
              <a:solidFill>
                <a:srgbClr val="8A94A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0909C2-809D-6048-3A65-33A4D7839C89}"/>
              </a:ext>
            </a:extLst>
          </p:cNvPr>
          <p:cNvSpPr/>
          <p:nvPr/>
        </p:nvSpPr>
        <p:spPr>
          <a:xfrm>
            <a:off x="1234440" y="3947160"/>
            <a:ext cx="4206240" cy="1270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D10C5C6-C022-ED3E-4C9B-0CBE34A66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3215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64637-CD27-AFE7-F05C-8A86860B7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D05BBF-92B8-2A19-8EDB-1A3F64C78A30}"/>
              </a:ext>
            </a:extLst>
          </p:cNvPr>
          <p:cNvSpPr/>
          <p:nvPr/>
        </p:nvSpPr>
        <p:spPr>
          <a:xfrm>
            <a:off x="731520" y="566928"/>
            <a:ext cx="566928" cy="635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2A9D1E-AF42-D336-ED1F-DBC810948134}"/>
              </a:ext>
            </a:extLst>
          </p:cNvPr>
          <p:cNvSpPr txBox="1"/>
          <p:nvPr/>
        </p:nvSpPr>
        <p:spPr>
          <a:xfrm>
            <a:off x="734568" y="749808"/>
            <a:ext cx="960120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50" b="1" dirty="0">
                <a:solidFill>
                  <a:srgbClr val="143C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How a Routing Table Works</a:t>
            </a:r>
            <a:endParaRPr sz="2900" b="1" dirty="0">
              <a:solidFill>
                <a:srgbClr val="143C6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DE66BF-87E6-E4B9-B92B-F21F49953761}"/>
              </a:ext>
            </a:extLst>
          </p:cNvPr>
          <p:cNvSpPr txBox="1"/>
          <p:nvPr/>
        </p:nvSpPr>
        <p:spPr>
          <a:xfrm>
            <a:off x="676287" y="1439825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sz="1200" b="0" dirty="0">
              <a:solidFill>
                <a:srgbClr val="8A94A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BE0F1C-9323-6CD4-E090-E058AE34D986}"/>
              </a:ext>
            </a:extLst>
          </p:cNvPr>
          <p:cNvSpPr/>
          <p:nvPr/>
        </p:nvSpPr>
        <p:spPr>
          <a:xfrm>
            <a:off x="734568" y="1282492"/>
            <a:ext cx="10725912" cy="1270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8C8D4A0-FB79-370E-E49C-12A0BE18693C}"/>
              </a:ext>
            </a:extLst>
          </p:cNvPr>
          <p:cNvSpPr txBox="1"/>
          <p:nvPr/>
        </p:nvSpPr>
        <p:spPr>
          <a:xfrm>
            <a:off x="731520" y="1389888"/>
            <a:ext cx="5701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The routing table is what a router bases its decisions on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.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EBFAEA5-0CF4-5226-D322-FE11A5F676A6}"/>
              </a:ext>
            </a:extLst>
          </p:cNvPr>
          <p:cNvSpPr txBox="1"/>
          <p:nvPr/>
        </p:nvSpPr>
        <p:spPr>
          <a:xfrm>
            <a:off x="731520" y="1783080"/>
            <a:ext cx="52041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3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It records which networks are reachable and how to forward toward them.</a:t>
            </a:r>
          </a:p>
          <a:p>
            <a:endParaRPr lang="zh-CN" altLang="en-US" dirty="0">
              <a:latin typeface="微软雅黑" panose="020B0503020204020204" pitchFamily="34" charset="-122"/>
            </a:endParaRPr>
          </a:p>
        </p:txBody>
      </p:sp>
      <p:pic>
        <p:nvPicPr>
          <p:cNvPr id="9" name="图片 8" descr="路由器拓扑与路由表结构示例，AI 生成">
            <a:extLst>
              <a:ext uri="{FF2B5EF4-FFF2-40B4-BE49-F238E27FC236}">
                <a16:creationId xmlns:a16="http://schemas.microsoft.com/office/drawing/2014/main" id="{500F8AB3-DA0B-5054-7894-30F9A010F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564" y="1931318"/>
            <a:ext cx="5761843" cy="3243603"/>
          </a:xfrm>
          <a:prstGeom prst="rect">
            <a:avLst/>
          </a:prstGeom>
        </p:spPr>
      </p:pic>
      <p:graphicFrame>
        <p:nvGraphicFramePr>
          <p:cNvPr id="11" name="Table 7">
            <a:extLst>
              <a:ext uri="{FF2B5EF4-FFF2-40B4-BE49-F238E27FC236}">
                <a16:creationId xmlns:a16="http://schemas.microsoft.com/office/drawing/2014/main" id="{A640A43E-43DF-2FC8-5147-CDB54512F0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614546"/>
              </p:ext>
            </p:extLst>
          </p:nvPr>
        </p:nvGraphicFramePr>
        <p:xfrm>
          <a:off x="576644" y="2507766"/>
          <a:ext cx="5450352" cy="3994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01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4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5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0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117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3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Destination network</a:t>
                      </a:r>
                    </a:p>
                  </a:txBody>
                  <a:tcPr marL="73152" marR="54864" marT="36576" marB="36576"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3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Next hop</a:t>
                      </a:r>
                    </a:p>
                  </a:txBody>
                  <a:tcPr marL="73152" marR="54864" marT="36576" marB="36576"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41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Exit interface</a:t>
                      </a:r>
                    </a:p>
                  </a:txBody>
                  <a:tcPr marL="73152" marR="54864" marT="36576" marB="36576"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141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Meaning</a:t>
                      </a:r>
                    </a:p>
                  </a:txBody>
                  <a:tcPr marL="73152" marR="54864" marT="36576" marB="36576" anchor="ctr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933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rPr sz="13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192.168.1.0/24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rPr sz="13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Directly connected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rPr sz="141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G0/0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rPr sz="141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Locally attached network</a:t>
                      </a:r>
                      <a:endParaRPr dirty="0">
                        <a:latin typeface="微软雅黑" panose="020B0503020204020204" pitchFamily="34" charset="-122"/>
                      </a:endParaRP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7486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rPr sz="13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192.168.2.0/24</a:t>
                      </a:r>
                    </a:p>
                  </a:txBody>
                  <a:tcPr marL="73152" marR="54864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rPr sz="13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Directly connected</a:t>
                      </a:r>
                    </a:p>
                  </a:txBody>
                  <a:tcPr marL="73152" marR="54864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rPr sz="141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G0/1</a:t>
                      </a:r>
                    </a:p>
                  </a:txBody>
                  <a:tcPr marL="73152" marR="54864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rPr sz="141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Another directly attached network</a:t>
                      </a:r>
                    </a:p>
                  </a:txBody>
                  <a:tcPr marL="73152" marR="54864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3797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rPr sz="13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192.168.3.0/24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rPr sz="13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192.168.2.2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rPr sz="141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G0/1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rPr sz="141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Hand over to the next router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175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rPr sz="13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0.0.0.0/0</a:t>
                      </a:r>
                    </a:p>
                  </a:txBody>
                  <a:tcPr marL="73152" marR="54864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rPr sz="136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192.168.2.2</a:t>
                      </a:r>
                    </a:p>
                  </a:txBody>
                  <a:tcPr marL="73152" marR="54864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rPr sz="141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G0/1</a:t>
                      </a:r>
                    </a:p>
                  </a:txBody>
                  <a:tcPr marL="73152" marR="54864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rPr sz="141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Microsoft YaHei"/>
                        </a:rPr>
                        <a:t>Default route</a:t>
                      </a:r>
                      <a:endParaRPr dirty="0">
                        <a:latin typeface="微软雅黑" panose="020B0503020204020204" pitchFamily="34" charset="-122"/>
                      </a:endParaRPr>
                    </a:p>
                  </a:txBody>
                  <a:tcPr marL="73152" marR="54864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8">
            <a:extLst>
              <a:ext uri="{FF2B5EF4-FFF2-40B4-BE49-F238E27FC236}">
                <a16:creationId xmlns:a16="http://schemas.microsoft.com/office/drawing/2014/main" id="{12041734-96B7-7569-71F1-9B0D98A0878A}"/>
              </a:ext>
            </a:extLst>
          </p:cNvPr>
          <p:cNvSpPr txBox="1"/>
          <p:nvPr/>
        </p:nvSpPr>
        <p:spPr>
          <a:xfrm>
            <a:off x="6126480" y="5394960"/>
            <a:ext cx="5120640" cy="7109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700" b="1" i="0">
                <a:solidFill>
                  <a:srgbClr val="102A43"/>
                </a:solidFill>
                <a:latin typeface="Microsoft YaHei"/>
              </a:defRPr>
            </a:pPr>
            <a:r>
              <a:rPr sz="1300" dirty="0" err="1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When a router processes a packet it extracts the destination IP → finds the matching route → chooses the next hop / exit interface.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AB97BA-279B-5A7B-6EAA-9F991A06A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074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66928" y="690372"/>
            <a:ext cx="10972800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800" b="1" i="0">
                <a:solidFill>
                  <a:srgbClr val="102A43"/>
                </a:solidFill>
                <a:latin typeface="Microsoft YaHei"/>
              </a:defRPr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Route Selection: Longest Prefix 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200" b="1" i="0">
                <a:solidFill>
                  <a:srgbClr val="102A43"/>
                </a:solidFill>
                <a:latin typeface="Microsoft YaHei"/>
              </a:defRPr>
            </a:pPr>
            <a:r>
              <a:rPr sz="19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Destination IP: 192.168.1.10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423160"/>
            <a:ext cx="4937760" cy="65836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3000" y="2569464"/>
            <a:ext cx="256032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000" b="1" i="0">
                <a:solidFill>
                  <a:srgbClr val="102A43"/>
                </a:solidFill>
                <a:latin typeface="Microsoft YaHei"/>
              </a:defRPr>
            </a:pPr>
            <a:r>
              <a:rPr sz="11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192.168.0.0/16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587752"/>
            <a:ext cx="192024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3B82F6"/>
                </a:solidFill>
                <a:latin typeface="Microsoft YaHei"/>
              </a:defRPr>
            </a:pPr>
            <a:r>
              <a:rPr sz="9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broader coverage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938977"/>
            <a:ext cx="4937760" cy="658368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43000" y="4085281"/>
            <a:ext cx="256032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000" b="1" i="0">
                <a:solidFill>
                  <a:srgbClr val="102A43"/>
                </a:solidFill>
                <a:latin typeface="Microsoft YaHei"/>
              </a:defRPr>
            </a:pPr>
            <a:r>
              <a:rPr sz="11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192.168.1.0/24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103569"/>
            <a:ext cx="192024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0D9488"/>
                </a:solidFill>
                <a:latin typeface="Microsoft YaHei"/>
              </a:defRPr>
            </a:pPr>
            <a:r>
              <a:rPr sz="9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more specific network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3429000"/>
            <a:ext cx="914400" cy="0"/>
          </a:xfrm>
          <a:prstGeom prst="line">
            <a:avLst/>
          </a:prstGeom>
          <a:ln w="25400">
            <a:solidFill>
              <a:srgbClr val="0D9488"/>
            </a:solidFill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78040" y="2651760"/>
            <a:ext cx="3840480" cy="14173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06640" y="2880360"/>
            <a:ext cx="338328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2400" b="1" i="0">
                <a:solidFill>
                  <a:srgbClr val="0D9488"/>
                </a:solidFill>
                <a:latin typeface="Microsoft YaHei"/>
              </a:defRPr>
            </a:pP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Choose /24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383280"/>
            <a:ext cx="338328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0" i="0">
                <a:solidFill>
                  <a:srgbClr val="102A43"/>
                </a:solidFill>
                <a:latin typeface="Microsoft YaHei"/>
              </a:defRPr>
            </a:pPr>
            <a:r>
              <a:rPr sz="9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Because the matching prefix is longer, the route is more specific.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B6B66F0-BA69-202E-33DA-34A375D32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539FC-285B-E8C3-E6DB-D92F1FCA5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60520C-624D-9E4F-A009-D39D61583AE6}"/>
              </a:ext>
            </a:extLst>
          </p:cNvPr>
          <p:cNvSpPr/>
          <p:nvPr/>
        </p:nvSpPr>
        <p:spPr>
          <a:xfrm>
            <a:off x="731520" y="566928"/>
            <a:ext cx="566928" cy="635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408E8D-FC98-0EC4-CB3F-08C949A74B14}"/>
              </a:ext>
            </a:extLst>
          </p:cNvPr>
          <p:cNvSpPr txBox="1"/>
          <p:nvPr/>
        </p:nvSpPr>
        <p:spPr>
          <a:xfrm>
            <a:off x="734568" y="749808"/>
            <a:ext cx="960120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50" b="1" dirty="0">
                <a:solidFill>
                  <a:srgbClr val="143C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Static Routing</a:t>
            </a:r>
            <a:endParaRPr sz="2900" b="1" dirty="0">
              <a:solidFill>
                <a:srgbClr val="143C6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570D6-5D21-0672-A8FC-E1499AC030A1}"/>
              </a:ext>
            </a:extLst>
          </p:cNvPr>
          <p:cNvSpPr txBox="1"/>
          <p:nvPr/>
        </p:nvSpPr>
        <p:spPr>
          <a:xfrm>
            <a:off x="731520" y="1527556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sz="1200" b="0" dirty="0">
              <a:solidFill>
                <a:srgbClr val="8A94A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F32BA9-0AA6-5523-FC1B-58F71ECDBEB0}"/>
              </a:ext>
            </a:extLst>
          </p:cNvPr>
          <p:cNvSpPr/>
          <p:nvPr/>
        </p:nvSpPr>
        <p:spPr>
          <a:xfrm>
            <a:off x="734568" y="1282492"/>
            <a:ext cx="10725912" cy="1270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861B8D1-4753-CDD4-78CA-3909DCBC7E08}"/>
              </a:ext>
            </a:extLst>
          </p:cNvPr>
          <p:cNvSpPr txBox="1"/>
          <p:nvPr/>
        </p:nvSpPr>
        <p:spPr>
          <a:xfrm>
            <a:off x="675058" y="1527556"/>
            <a:ext cx="794116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Static routing means routes are configured and maintained by hand by the network administrator.</a:t>
            </a:r>
          </a:p>
          <a:p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Unlike dynamic routing protocols such as OSPF, RIP and BGP, which learn and compute paths automatically, static routes do not update themselves when the topology changes. If a path fails or the topology changes, the administrator must edit the routing table manually.</a:t>
            </a: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The core of a static route: name the destination network, then specify the next hop or the exit interface</a:t>
            </a:r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AB4D8FE1-FA44-9D8D-EA6E-11BCB731860A}"/>
              </a:ext>
            </a:extLst>
          </p:cNvPr>
          <p:cNvSpPr/>
          <p:nvPr/>
        </p:nvSpPr>
        <p:spPr>
          <a:xfrm>
            <a:off x="675058" y="3373629"/>
            <a:ext cx="507492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298A76E2-89FC-2D7B-C29D-E47E29B74604}"/>
              </a:ext>
            </a:extLst>
          </p:cNvPr>
          <p:cNvSpPr txBox="1"/>
          <p:nvPr/>
        </p:nvSpPr>
        <p:spPr>
          <a:xfrm>
            <a:off x="949378" y="3647949"/>
            <a:ext cx="11887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000" b="1" i="0">
                <a:solidFill>
                  <a:srgbClr val="0D9488"/>
                </a:solidFill>
                <a:latin typeface="Microsoft YaHei"/>
              </a:defRPr>
            </a:pPr>
            <a:r>
              <a:rPr sz="13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Advantages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A48F5D80-3962-5992-FC1B-53D9915A0E3F}"/>
              </a:ext>
            </a:extLst>
          </p:cNvPr>
          <p:cNvSpPr txBox="1"/>
          <p:nvPr/>
        </p:nvSpPr>
        <p:spPr>
          <a:xfrm>
            <a:off x="903658" y="4150869"/>
            <a:ext cx="4389120" cy="1043363"/>
          </a:xfrm>
          <a:prstGeom prst="rect">
            <a:avLst/>
          </a:prstGeom>
          <a:noFill/>
        </p:spPr>
        <p:txBody>
          <a:bodyPr wrap="square" tIns="73152" rIns="73152" bIns="36576">
            <a:spAutoFit/>
          </a:bodyPr>
          <a:lstStyle/>
          <a:p>
            <a:pPr>
              <a:buChar char="•"/>
              <a:defRPr sz="1600">
                <a:solidFill>
                  <a:srgbClr val="1E293B"/>
                </a:solidFill>
                <a:latin typeface="Microsoft YaHei"/>
              </a:defRPr>
            </a:pPr>
            <a:r>
              <a:rPr sz="202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Configuration is straightforward</a:t>
            </a:r>
          </a:p>
          <a:p>
            <a:pPr>
              <a:buChar char="•"/>
              <a:defRPr sz="1600">
                <a:solidFill>
                  <a:srgbClr val="1E293B"/>
                </a:solidFill>
                <a:latin typeface="Microsoft YaHei"/>
              </a:defRPr>
            </a:pPr>
            <a:r>
              <a:rPr sz="2020" dirty="0" err="1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Behaviour</a:t>
            </a:r>
            <a:r>
              <a:rPr sz="202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 is predictable</a:t>
            </a:r>
          </a:p>
          <a:p>
            <a:pPr>
              <a:buChar char="•"/>
              <a:defRPr sz="1600">
                <a:solidFill>
                  <a:srgbClr val="1E293B"/>
                </a:solidFill>
                <a:latin typeface="Microsoft YaHei"/>
              </a:defRPr>
            </a:pPr>
            <a:r>
              <a:rPr sz="202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Suits small or stable topologies</a:t>
            </a:r>
          </a:p>
        </p:txBody>
      </p:sp>
      <p:sp>
        <p:nvSpPr>
          <p:cNvPr id="15" name="Rounded Rectangle 10">
            <a:extLst>
              <a:ext uri="{FF2B5EF4-FFF2-40B4-BE49-F238E27FC236}">
                <a16:creationId xmlns:a16="http://schemas.microsoft.com/office/drawing/2014/main" id="{CF9CEFCB-A978-69C2-56DB-218BAE397C88}"/>
              </a:ext>
            </a:extLst>
          </p:cNvPr>
          <p:cNvSpPr/>
          <p:nvPr/>
        </p:nvSpPr>
        <p:spPr>
          <a:xfrm>
            <a:off x="6115738" y="3373629"/>
            <a:ext cx="507492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BC19DFF0-1E43-1BC5-94B5-B27AEDEB5594}"/>
              </a:ext>
            </a:extLst>
          </p:cNvPr>
          <p:cNvSpPr txBox="1"/>
          <p:nvPr/>
        </p:nvSpPr>
        <p:spPr>
          <a:xfrm>
            <a:off x="6390058" y="3647949"/>
            <a:ext cx="11887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000" b="1" i="0">
                <a:solidFill>
                  <a:srgbClr val="F59E0B"/>
                </a:solidFill>
                <a:latin typeface="Microsoft YaHei"/>
              </a:defRPr>
            </a:pPr>
            <a:r>
              <a:rPr sz="13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Limitations</a:t>
            </a: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1F1814AF-586C-B730-1D31-54C4C0FF8B31}"/>
              </a:ext>
            </a:extLst>
          </p:cNvPr>
          <p:cNvSpPr txBox="1"/>
          <p:nvPr/>
        </p:nvSpPr>
        <p:spPr>
          <a:xfrm>
            <a:off x="6344338" y="4150869"/>
            <a:ext cx="4389120" cy="1818959"/>
          </a:xfrm>
          <a:prstGeom prst="rect">
            <a:avLst/>
          </a:prstGeom>
          <a:noFill/>
        </p:spPr>
        <p:txBody>
          <a:bodyPr wrap="square" tIns="73152" rIns="73152" bIns="36576">
            <a:spAutoFit/>
          </a:bodyPr>
          <a:lstStyle/>
          <a:p>
            <a:pPr>
              <a:buChar char="•"/>
              <a:defRPr sz="1600">
                <a:solidFill>
                  <a:srgbClr val="1E293B"/>
                </a:solidFill>
                <a:latin typeface="Microsoft YaHei"/>
              </a:defRPr>
            </a:pPr>
            <a:r>
              <a:rPr sz="18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Topology changes usually require manual edits</a:t>
            </a:r>
          </a:p>
          <a:p>
            <a:pPr>
              <a:buChar char="•"/>
              <a:defRPr sz="1600">
                <a:solidFill>
                  <a:srgbClr val="1E293B"/>
                </a:solidFill>
                <a:latin typeface="Microsoft YaHei"/>
              </a:defRPr>
            </a:pPr>
            <a:r>
              <a:rPr sz="18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A misconfiguration can cause unreachability</a:t>
            </a:r>
          </a:p>
          <a:p>
            <a:pPr>
              <a:buChar char="•"/>
              <a:defRPr sz="1600">
                <a:solidFill>
                  <a:srgbClr val="1E293B"/>
                </a:solidFill>
                <a:latin typeface="Microsoft YaHei"/>
              </a:defRPr>
            </a:pPr>
            <a:r>
              <a:rPr sz="18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Higher maintenance cost in large networks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873430-62A0-F46D-5E92-B09E681A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6165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979FCCF1-7F19-1975-F2B5-3412540C835C}"/>
              </a:ext>
            </a:extLst>
          </p:cNvPr>
          <p:cNvSpPr/>
          <p:nvPr/>
        </p:nvSpPr>
        <p:spPr>
          <a:xfrm>
            <a:off x="731520" y="566928"/>
            <a:ext cx="566928" cy="635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4AFAA2AB-C644-0EDA-3DCD-560A342EE7D4}"/>
              </a:ext>
            </a:extLst>
          </p:cNvPr>
          <p:cNvSpPr txBox="1"/>
          <p:nvPr/>
        </p:nvSpPr>
        <p:spPr>
          <a:xfrm>
            <a:off x="731520" y="749808"/>
            <a:ext cx="960120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zh-CN" altLang="en-US" sz="3250" b="1" dirty="0">
                <a:solidFill>
                  <a:srgbClr val="143C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ACL: Who May Talk to Whom?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548F689D-6D0A-EB03-F621-8B0BE364F18A}"/>
              </a:ext>
            </a:extLst>
          </p:cNvPr>
          <p:cNvSpPr/>
          <p:nvPr/>
        </p:nvSpPr>
        <p:spPr>
          <a:xfrm>
            <a:off x="734568" y="1282492"/>
            <a:ext cx="10725912" cy="1270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E1D44EF1-07C0-18C4-0491-FD5A9EC1B992}"/>
              </a:ext>
            </a:extLst>
          </p:cNvPr>
          <p:cNvSpPr txBox="1"/>
          <p:nvPr/>
        </p:nvSpPr>
        <p:spPr>
          <a:xfrm>
            <a:off x="731520" y="1374271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340" dirty="0">
                <a:solidFill>
                  <a:srgbClr val="8A94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A list of permit and deny rules, read in order, applied to an interface</a:t>
            </a:r>
            <a:endParaRPr sz="1200" b="0" dirty="0">
              <a:solidFill>
                <a:srgbClr val="8A94A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4" name="灯片编号占位符 31">
            <a:extLst>
              <a:ext uri="{FF2B5EF4-FFF2-40B4-BE49-F238E27FC236}">
                <a16:creationId xmlns:a16="http://schemas.microsoft.com/office/drawing/2014/main" id="{3EC9F60D-278D-01DF-5EC0-CBF361400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7B27089F-739D-EC22-1456-E28C6274DB85}"/>
              </a:ext>
            </a:extLst>
          </p:cNvPr>
          <p:cNvSpPr/>
          <p:nvPr/>
        </p:nvSpPr>
        <p:spPr>
          <a:xfrm>
            <a:off x="731520" y="1783080"/>
            <a:ext cx="33832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F34A9A00-8AB7-4C38-CB49-A8716A6F82BE}"/>
              </a:ext>
            </a:extLst>
          </p:cNvPr>
          <p:cNvSpPr/>
          <p:nvPr/>
        </p:nvSpPr>
        <p:spPr>
          <a:xfrm>
            <a:off x="731520" y="1783080"/>
            <a:ext cx="3383280" cy="1463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7" name="TextBox 32"/>
          <p:cNvSpPr txBox="1"/>
          <p:nvPr/>
        </p:nvSpPr>
        <p:spPr>
          <a:xfrm>
            <a:off x="941832" y="195681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02A43"/>
                </a:solidFill>
                <a:latin typeface="微软雅黑"/>
                <a:ea typeface="微软雅黑"/>
                <a:cs typeface="Microsoft YaHei"/>
              </a:rPr>
              <a:t>What it matches</a:t>
            </a:r>
          </a:p>
        </p:txBody>
      </p:sp>
      <p:sp>
        <p:nvSpPr>
          <p:cNvPr id="18" name="TextBox 33"/>
          <p:cNvSpPr txBox="1"/>
          <p:nvPr/>
        </p:nvSpPr>
        <p:spPr>
          <a:xfrm>
            <a:off x="941832" y="2286000"/>
            <a:ext cx="2971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Microsoft YaHei"/>
              </a:rPr>
              <a:t>Source and destination IP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Microsoft YaHei"/>
              </a:rPr>
              <a:t>Protocol: IP, TCP, UDP, ICMP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Microsoft YaHei"/>
              </a:rPr>
              <a:t>Port number (extended ACLs)</a:t>
            </a:r>
          </a:p>
        </p:txBody>
      </p:sp>
      <p:sp>
        <p:nvSpPr>
          <p:cNvPr id="19" name="Rounded Rectangle 7">
            <a:extLst>
              <a:ext uri="{FF2B5EF4-FFF2-40B4-BE49-F238E27FC236}">
                <a16:creationId xmlns:a16="http://schemas.microsoft.com/office/drawing/2014/main" id="{7B27089F-739D-EC22-1456-E28C6274DB85}"/>
              </a:ext>
            </a:extLst>
          </p:cNvPr>
          <p:cNvSpPr/>
          <p:nvPr/>
        </p:nvSpPr>
        <p:spPr>
          <a:xfrm>
            <a:off x="4407408" y="1783080"/>
            <a:ext cx="33832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F34A9A00-8AB7-4C38-CB49-A8716A6F82BE}"/>
              </a:ext>
            </a:extLst>
          </p:cNvPr>
          <p:cNvSpPr/>
          <p:nvPr/>
        </p:nvSpPr>
        <p:spPr>
          <a:xfrm>
            <a:off x="4407408" y="1783080"/>
            <a:ext cx="3383280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1" name="TextBox 34"/>
          <p:cNvSpPr txBox="1"/>
          <p:nvPr/>
        </p:nvSpPr>
        <p:spPr>
          <a:xfrm>
            <a:off x="4617720" y="195681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02A43"/>
                </a:solidFill>
                <a:latin typeface="微软雅黑"/>
                <a:ea typeface="微软雅黑"/>
                <a:cs typeface="Microsoft YaHei"/>
              </a:rPr>
              <a:t>How it is read</a:t>
            </a:r>
          </a:p>
        </p:txBody>
      </p:sp>
      <p:sp>
        <p:nvSpPr>
          <p:cNvPr id="22" name="TextBox 35"/>
          <p:cNvSpPr txBox="1"/>
          <p:nvPr/>
        </p:nvSpPr>
        <p:spPr>
          <a:xfrm>
            <a:off x="4617720" y="2286000"/>
            <a:ext cx="2971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Microsoft YaHei"/>
              </a:rPr>
              <a:t>Checked top-down, one rule at a time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Microsoft YaHei"/>
              </a:rPr>
              <a:t>First match wins; later rules are skipped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Microsoft YaHei"/>
              </a:rPr>
              <a:t>An invisible deny any sits at the end</a:t>
            </a:r>
          </a:p>
        </p:txBody>
      </p:sp>
      <p:sp>
        <p:nvSpPr>
          <p:cNvPr id="23" name="Rounded Rectangle 7">
            <a:extLst>
              <a:ext uri="{FF2B5EF4-FFF2-40B4-BE49-F238E27FC236}">
                <a16:creationId xmlns:a16="http://schemas.microsoft.com/office/drawing/2014/main" id="{7B27089F-739D-EC22-1456-E28C6274DB85}"/>
              </a:ext>
            </a:extLst>
          </p:cNvPr>
          <p:cNvSpPr/>
          <p:nvPr/>
        </p:nvSpPr>
        <p:spPr>
          <a:xfrm>
            <a:off x="8083296" y="1783080"/>
            <a:ext cx="33832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F34A9A00-8AB7-4C38-CB49-A8716A6F82BE}"/>
              </a:ext>
            </a:extLst>
          </p:cNvPr>
          <p:cNvSpPr/>
          <p:nvPr/>
        </p:nvSpPr>
        <p:spPr>
          <a:xfrm>
            <a:off x="8083296" y="1783080"/>
            <a:ext cx="3383280" cy="14630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5" name="TextBox 36"/>
          <p:cNvSpPr txBox="1"/>
          <p:nvPr/>
        </p:nvSpPr>
        <p:spPr>
          <a:xfrm>
            <a:off x="8293608" y="195681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02A43"/>
                </a:solidFill>
                <a:latin typeface="微软雅黑"/>
                <a:ea typeface="微软雅黑"/>
                <a:cs typeface="Microsoft YaHei"/>
              </a:rPr>
              <a:t>Where it is applied</a:t>
            </a:r>
          </a:p>
        </p:txBody>
      </p:sp>
      <p:sp>
        <p:nvSpPr>
          <p:cNvPr id="26" name="TextBox 37"/>
          <p:cNvSpPr txBox="1"/>
          <p:nvPr/>
        </p:nvSpPr>
        <p:spPr>
          <a:xfrm>
            <a:off x="8293608" y="2286000"/>
            <a:ext cx="2971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Microsoft YaHei"/>
              </a:rPr>
              <a:t>On one router interface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Microsoft YaHei"/>
              </a:rPr>
              <a:t>Inbound: before the routing decision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Microsoft YaHei"/>
              </a:rPr>
              <a:t>Outbound: after the routing decision</a:t>
            </a:r>
          </a:p>
        </p:txBody>
      </p:sp>
      <p:sp>
        <p:nvSpPr>
          <p:cNvPr id="27" name="Rounded Rectangle 7">
            <a:extLst>
              <a:ext uri="{FF2B5EF4-FFF2-40B4-BE49-F238E27FC236}">
                <a16:creationId xmlns:a16="http://schemas.microsoft.com/office/drawing/2014/main" id="{7B27089F-739D-EC22-1456-E28C6274DB85}"/>
              </a:ext>
            </a:extLst>
          </p:cNvPr>
          <p:cNvSpPr/>
          <p:nvPr/>
        </p:nvSpPr>
        <p:spPr>
          <a:xfrm>
            <a:off x="731520" y="3840480"/>
            <a:ext cx="10725912" cy="10241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8" name="TextBox 38"/>
          <p:cNvSpPr txBox="1"/>
          <p:nvPr/>
        </p:nvSpPr>
        <p:spPr>
          <a:xfrm>
            <a:off x="960120" y="395935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微软雅黑"/>
                <a:ea typeface="微软雅黑"/>
                <a:cs typeface="Microsoft YaHei"/>
              </a:rPr>
              <a:t>One rule reads like a sentence</a:t>
            </a:r>
          </a:p>
        </p:txBody>
      </p:sp>
      <p:sp>
        <p:nvSpPr>
          <p:cNvPr id="29" name="TextBox 39"/>
          <p:cNvSpPr txBox="1"/>
          <p:nvPr/>
        </p:nvSpPr>
        <p:spPr>
          <a:xfrm>
            <a:off x="960120" y="4206240"/>
            <a:ext cx="6400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02A43"/>
                </a:solidFill>
                <a:latin typeface="微软雅黑"/>
                <a:ea typeface="微软雅黑"/>
                <a:cs typeface="Microsoft YaHei"/>
              </a:rPr>
              <a:t>deny   ip   host 192.168.10.50   host 192.168.20.10</a:t>
            </a:r>
          </a:p>
        </p:txBody>
      </p:sp>
      <p:sp>
        <p:nvSpPr>
          <p:cNvPr id="30" name="TextBox 40"/>
          <p:cNvSpPr txBox="1"/>
          <p:nvPr/>
        </p:nvSpPr>
        <p:spPr>
          <a:xfrm>
            <a:off x="7589520" y="424281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Microsoft YaHei"/>
              </a:rPr>
              <a:t>→ block one host from reaching one server</a:t>
            </a:r>
          </a:p>
        </p:txBody>
      </p:sp>
      <p:sp>
        <p:nvSpPr>
          <p:cNvPr id="31" name="Rounded Rectangle 7">
            <a:extLst>
              <a:ext uri="{FF2B5EF4-FFF2-40B4-BE49-F238E27FC236}">
                <a16:creationId xmlns:a16="http://schemas.microsoft.com/office/drawing/2014/main" id="{7B27089F-739D-EC22-1456-E28C6274DB85}"/>
              </a:ext>
            </a:extLst>
          </p:cNvPr>
          <p:cNvSpPr/>
          <p:nvPr/>
        </p:nvSpPr>
        <p:spPr>
          <a:xfrm>
            <a:off x="731520" y="5120640"/>
            <a:ext cx="10725912" cy="8412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2" name="TextBox 41"/>
          <p:cNvSpPr txBox="1"/>
          <p:nvPr/>
        </p:nvSpPr>
        <p:spPr>
          <a:xfrm>
            <a:off x="960120" y="5413248"/>
            <a:ext cx="10287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4ED8"/>
                </a:solidFill>
                <a:latin typeface="微软雅黑"/>
                <a:ea typeface="微软雅黑"/>
                <a:cs typeface="Microsoft YaHei"/>
              </a:rPr>
              <a:t>Remember: </a:t>
            </a:r>
            <a:r>
              <a:rPr sz="1200" b="0">
                <a:solidFill>
                  <a:srgbClr val="1E293B"/>
                </a:solidFill>
                <a:latin typeface="微软雅黑"/>
                <a:ea typeface="微软雅黑"/>
                <a:cs typeface="Microsoft YaHei"/>
              </a:rPr>
              <a:t>if no rule matches, the packet is dropped. Every permitted flow needs an explicit permit.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979FCCF1-7F19-1975-F2B5-3412540C835C}"/>
              </a:ext>
            </a:extLst>
          </p:cNvPr>
          <p:cNvSpPr/>
          <p:nvPr/>
        </p:nvSpPr>
        <p:spPr>
          <a:xfrm>
            <a:off x="731520" y="566928"/>
            <a:ext cx="566928" cy="635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4AFAA2AB-C644-0EDA-3DCD-560A342EE7D4}"/>
              </a:ext>
            </a:extLst>
          </p:cNvPr>
          <p:cNvSpPr txBox="1"/>
          <p:nvPr/>
        </p:nvSpPr>
        <p:spPr>
          <a:xfrm>
            <a:off x="731520" y="749808"/>
            <a:ext cx="960120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zh-CN" altLang="en-US" sz="3250" b="1" dirty="0">
                <a:solidFill>
                  <a:srgbClr val="143C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One ACL in Practice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548F689D-6D0A-EB03-F621-8B0BE364F18A}"/>
              </a:ext>
            </a:extLst>
          </p:cNvPr>
          <p:cNvSpPr/>
          <p:nvPr/>
        </p:nvSpPr>
        <p:spPr>
          <a:xfrm>
            <a:off x="734568" y="1282492"/>
            <a:ext cx="10725912" cy="1270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E1D44EF1-07C0-18C4-0491-FD5A9EC1B992}"/>
              </a:ext>
            </a:extLst>
          </p:cNvPr>
          <p:cNvSpPr txBox="1"/>
          <p:nvPr/>
        </p:nvSpPr>
        <p:spPr>
          <a:xfrm>
            <a:off x="731520" y="1374271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1340" dirty="0">
                <a:solidFill>
                  <a:srgbClr val="8A94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Block one host, keep every other flow working</a:t>
            </a:r>
            <a:endParaRPr sz="1200" b="0" dirty="0">
              <a:solidFill>
                <a:srgbClr val="8A94A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4" name="灯片编号占位符 31">
            <a:extLst>
              <a:ext uri="{FF2B5EF4-FFF2-40B4-BE49-F238E27FC236}">
                <a16:creationId xmlns:a16="http://schemas.microsoft.com/office/drawing/2014/main" id="{3EC9F60D-278D-01DF-5EC0-CBF361400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7B27089F-739D-EC22-1456-E28C6274DB85}"/>
              </a:ext>
            </a:extLst>
          </p:cNvPr>
          <p:cNvSpPr/>
          <p:nvPr/>
        </p:nvSpPr>
        <p:spPr>
          <a:xfrm>
            <a:off x="731520" y="1783080"/>
            <a:ext cx="3840480" cy="14813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6" name="TextBox 32"/>
          <p:cNvSpPr txBox="1"/>
          <p:nvPr/>
        </p:nvSpPr>
        <p:spPr>
          <a:xfrm>
            <a:off x="941832" y="1883664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2A43"/>
                </a:solidFill>
                <a:latin typeface="微软雅黑"/>
                <a:ea typeface="微软雅黑"/>
                <a:cs typeface="Microsoft YaHei"/>
              </a:rPr>
              <a:t>The task</a:t>
            </a:r>
          </a:p>
        </p:txBody>
      </p:sp>
      <p:sp>
        <p:nvSpPr>
          <p:cNvPr id="17" name="TextBox 33"/>
          <p:cNvSpPr txBox="1"/>
          <p:nvPr/>
        </p:nvSpPr>
        <p:spPr>
          <a:xfrm>
            <a:off x="941832" y="2176272"/>
            <a:ext cx="3429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Microsoft YaHei"/>
              </a:rPr>
              <a:t>Office VLAN 10: 192.168.10.0/24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Microsoft YaHei"/>
              </a:rPr>
              <a:t>Server in VLAN 20: 192.168.20.10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Microsoft YaHei"/>
              </a:rPr>
              <a:t>Block 192.168.10.50 from the server</a:t>
            </a:r>
          </a:p>
          <a:p>
            <a:pPr algn="l">
              <a:lnSpc>
                <a:spcPct val="103000"/>
              </a:lnSpc>
              <a:spcAft>
                <a:spcPts val="500"/>
              </a:spcAft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Microsoft YaHei"/>
              </a:rPr>
              <a:t>Everything else must still work</a:t>
            </a:r>
          </a:p>
        </p:txBody>
      </p:sp>
      <p:sp>
        <p:nvSpPr>
          <p:cNvPr id="18" name="Rounded Rectangle 7">
            <a:extLst>
              <a:ext uri="{FF2B5EF4-FFF2-40B4-BE49-F238E27FC236}">
                <a16:creationId xmlns:a16="http://schemas.microsoft.com/office/drawing/2014/main" id="{7B27089F-739D-EC22-1456-E28C6274DB85}"/>
              </a:ext>
            </a:extLst>
          </p:cNvPr>
          <p:cNvSpPr/>
          <p:nvPr/>
        </p:nvSpPr>
        <p:spPr>
          <a:xfrm>
            <a:off x="4846320" y="1783080"/>
            <a:ext cx="6611112" cy="14813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9" name="TextBox 34"/>
          <p:cNvSpPr txBox="1"/>
          <p:nvPr/>
        </p:nvSpPr>
        <p:spPr>
          <a:xfrm>
            <a:off x="5047488" y="1883664"/>
            <a:ext cx="6217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2A43"/>
                </a:solidFill>
                <a:latin typeface="微软雅黑"/>
                <a:ea typeface="微软雅黑"/>
                <a:cs typeface="Microsoft YaHei"/>
              </a:rPr>
              <a:t>The rules, in order</a:t>
            </a:r>
          </a:p>
        </p:txBody>
      </p: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7B27089F-739D-EC22-1456-E28C6274DB85}"/>
              </a:ext>
            </a:extLst>
          </p:cNvPr>
          <p:cNvSpPr/>
          <p:nvPr/>
        </p:nvSpPr>
        <p:spPr>
          <a:xfrm>
            <a:off x="5047488" y="2157984"/>
            <a:ext cx="566928" cy="310896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DC2626"/>
                </a:solidFill>
                <a:latin typeface="微软雅黑"/>
                <a:ea typeface="微软雅黑"/>
                <a:cs typeface="Microsoft YaHei"/>
              </a:rPr>
              <a:t>10</a:t>
            </a:r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1" name="TextBox 35"/>
          <p:cNvSpPr txBox="1"/>
          <p:nvPr/>
        </p:nvSpPr>
        <p:spPr>
          <a:xfrm>
            <a:off x="5724144" y="2185416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293B"/>
                </a:solidFill>
                <a:latin typeface="微软雅黑"/>
                <a:ea typeface="微软雅黑"/>
                <a:cs typeface="Microsoft YaHei"/>
              </a:rPr>
              <a:t>deny ip host 192.168.10.50 host 192.168.20.10</a:t>
            </a:r>
          </a:p>
        </p:txBody>
      </p:sp>
      <p:sp>
        <p:nvSpPr>
          <p:cNvPr id="22" name="Rounded Rectangle 7">
            <a:extLst>
              <a:ext uri="{FF2B5EF4-FFF2-40B4-BE49-F238E27FC236}">
                <a16:creationId xmlns:a16="http://schemas.microsoft.com/office/drawing/2014/main" id="{7B27089F-739D-EC22-1456-E28C6274DB85}"/>
              </a:ext>
            </a:extLst>
          </p:cNvPr>
          <p:cNvSpPr/>
          <p:nvPr/>
        </p:nvSpPr>
        <p:spPr>
          <a:xfrm>
            <a:off x="5047488" y="2578608"/>
            <a:ext cx="566928" cy="310896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D9488"/>
                </a:solidFill>
                <a:latin typeface="微软雅黑"/>
                <a:ea typeface="微软雅黑"/>
                <a:cs typeface="Microsoft YaHei"/>
              </a:rPr>
              <a:t>20</a:t>
            </a:r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3" name="TextBox 36"/>
          <p:cNvSpPr txBox="1"/>
          <p:nvPr/>
        </p:nvSpPr>
        <p:spPr>
          <a:xfrm>
            <a:off x="5724144" y="26060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293B"/>
                </a:solidFill>
                <a:latin typeface="微软雅黑"/>
                <a:ea typeface="微软雅黑"/>
                <a:cs typeface="Microsoft YaHei"/>
              </a:rPr>
              <a:t>permit ip any any</a:t>
            </a:r>
          </a:p>
        </p:txBody>
      </p:sp>
      <p:sp>
        <p:nvSpPr>
          <p:cNvPr id="24" name="TextBox 37"/>
          <p:cNvSpPr txBox="1"/>
          <p:nvPr/>
        </p:nvSpPr>
        <p:spPr>
          <a:xfrm>
            <a:off x="7406640" y="2624328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4748B"/>
                </a:solidFill>
                <a:latin typeface="微软雅黑"/>
                <a:ea typeface="微软雅黑"/>
                <a:cs typeface="Microsoft YaHei"/>
              </a:rPr>
              <a:t>(everything else keeps working)</a:t>
            </a:r>
          </a:p>
        </p:txBody>
      </p:sp>
      <p:sp>
        <p:nvSpPr>
          <p:cNvPr id="25" name="Rounded Rectangle 6"/>
          <p:cNvSpPr/>
          <p:nvPr/>
        </p:nvSpPr>
        <p:spPr>
          <a:xfrm>
            <a:off x="731520" y="3456432"/>
            <a:ext cx="6967728" cy="22860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Microsoft YaHei"/>
            </a:endParaRPr>
          </a:p>
        </p:txBody>
      </p:sp>
      <p:sp>
        <p:nvSpPr>
          <p:cNvPr id="26" name="Rectangle 7"/>
          <p:cNvSpPr/>
          <p:nvPr/>
        </p:nvSpPr>
        <p:spPr>
          <a:xfrm>
            <a:off x="731520" y="3456432"/>
            <a:ext cx="6967728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  <a:effectLst/>
        </p:spPr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Microsoft YaHei"/>
            </a:endParaRPr>
          </a:p>
        </p:txBody>
      </p:sp>
      <p:sp>
        <p:nvSpPr>
          <p:cNvPr id="27" name="Oval 38"/>
          <p:cNvSpPr/>
          <p:nvPr/>
        </p:nvSpPr>
        <p:spPr>
          <a:xfrm>
            <a:off x="859536" y="3547872"/>
            <a:ext cx="91440" cy="91440"/>
          </a:xfrm>
          <a:prstGeom prst="ellipse">
            <a:avLst/>
          </a:prstGeom>
          <a:solidFill>
            <a:srgbClr val="FF5F57"/>
          </a:solidFill>
          <a:ln w="6350">
            <a:solidFill>
              <a:srgbClr val="FF5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39"/>
          <p:cNvSpPr/>
          <p:nvPr/>
        </p:nvSpPr>
        <p:spPr>
          <a:xfrm>
            <a:off x="1042416" y="3547872"/>
            <a:ext cx="91440" cy="91440"/>
          </a:xfrm>
          <a:prstGeom prst="ellipse">
            <a:avLst/>
          </a:prstGeom>
          <a:solidFill>
            <a:srgbClr val="FEBC2E"/>
          </a:solidFill>
          <a:ln w="6350">
            <a:solidFill>
              <a:srgbClr val="FEB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40"/>
          <p:cNvSpPr/>
          <p:nvPr/>
        </p:nvSpPr>
        <p:spPr>
          <a:xfrm>
            <a:off x="1225296" y="3547872"/>
            <a:ext cx="91440" cy="91440"/>
          </a:xfrm>
          <a:prstGeom prst="ellipse">
            <a:avLst/>
          </a:prstGeom>
          <a:solidFill>
            <a:srgbClr val="28C840"/>
          </a:solidFill>
          <a:ln w="6350">
            <a:solidFill>
              <a:srgbClr val="28C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41"/>
          <p:cNvSpPr txBox="1"/>
          <p:nvPr/>
        </p:nvSpPr>
        <p:spPr>
          <a:xfrm>
            <a:off x="1444752" y="3502151"/>
            <a:ext cx="6144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A3B8"/>
                </a:solidFill>
                <a:latin typeface="微软雅黑"/>
                <a:ea typeface="微软雅黑"/>
                <a:cs typeface="Microsoft YaHei"/>
              </a:rPr>
              <a:t>R1 — applied inbound on the VLAN 10 interface</a:t>
            </a:r>
          </a:p>
        </p:txBody>
      </p:sp>
      <p:sp>
        <p:nvSpPr>
          <p:cNvPr id="31" name="TextBox 42"/>
          <p:cNvSpPr txBox="1"/>
          <p:nvPr/>
        </p:nvSpPr>
        <p:spPr>
          <a:xfrm>
            <a:off x="914400" y="3822191"/>
            <a:ext cx="6675120" cy="1874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7DD3A0"/>
                </a:solidFill>
                <a:latin typeface="微软雅黑"/>
                <a:ea typeface="微软雅黑"/>
                <a:cs typeface="Microsoft YaHei"/>
              </a:rPr>
              <a:t>R1(config)# access-list 100 deny ip host 192.168.10.50 host 192.168.20.10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7DD3A0"/>
                </a:solidFill>
                <a:latin typeface="微软雅黑"/>
                <a:ea typeface="微软雅黑"/>
                <a:cs typeface="Microsoft YaHei"/>
              </a:rPr>
              <a:t>R1(config)# access-list 100 permit ip any any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7DD3A0"/>
                </a:solidFill>
                <a:latin typeface="微软雅黑"/>
                <a:ea typeface="微软雅黑"/>
                <a:cs typeface="Microsoft YaHei"/>
              </a:rPr>
              <a:t>R1(config)# interface gi0/0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7DD3A0"/>
                </a:solidFill>
                <a:latin typeface="微软雅黑"/>
                <a:ea typeface="微软雅黑"/>
                <a:cs typeface="Microsoft YaHei"/>
              </a:rPr>
              <a:t>R1(config-if)# ip access-group 100 in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7DD3A0"/>
                </a:solidFill>
                <a:latin typeface="微软雅黑"/>
                <a:ea typeface="微软雅黑"/>
                <a:cs typeface="Microsoft YaHei"/>
              </a:rPr>
              <a:t>R1(config-if)# end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7DD3A0"/>
                </a:solidFill>
                <a:latin typeface="微软雅黑"/>
                <a:ea typeface="微软雅黑"/>
                <a:cs typeface="Microsoft YaHei"/>
              </a:rPr>
              <a:t>R1# show access-lists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7DD3A0"/>
                </a:solidFill>
                <a:latin typeface="微软雅黑"/>
                <a:ea typeface="微软雅黑"/>
                <a:cs typeface="Microsoft YaHei"/>
              </a:rPr>
              <a:t>R1# write memory</a:t>
            </a:r>
          </a:p>
        </p:txBody>
      </p:sp>
      <p:sp>
        <p:nvSpPr>
          <p:cNvPr id="32" name="Rounded Rectangle 7">
            <a:extLst>
              <a:ext uri="{FF2B5EF4-FFF2-40B4-BE49-F238E27FC236}">
                <a16:creationId xmlns:a16="http://schemas.microsoft.com/office/drawing/2014/main" id="{7B27089F-739D-EC22-1456-E28C6274DB85}"/>
              </a:ext>
            </a:extLst>
          </p:cNvPr>
          <p:cNvSpPr/>
          <p:nvPr/>
        </p:nvSpPr>
        <p:spPr>
          <a:xfrm>
            <a:off x="7863840" y="3456432"/>
            <a:ext cx="3593592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3" name="TextBox 43"/>
          <p:cNvSpPr txBox="1"/>
          <p:nvPr/>
        </p:nvSpPr>
        <p:spPr>
          <a:xfrm>
            <a:off x="8065008" y="3584448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2A43"/>
                </a:solidFill>
                <a:latin typeface="微软雅黑"/>
                <a:ea typeface="微软雅黑"/>
                <a:cs typeface="Microsoft YaHei"/>
              </a:rPr>
              <a:t>Check and remember</a:t>
            </a:r>
          </a:p>
        </p:txBody>
      </p:sp>
      <p:sp>
        <p:nvSpPr>
          <p:cNvPr id="34" name="TextBox 44"/>
          <p:cNvSpPr txBox="1"/>
          <p:nvPr/>
        </p:nvSpPr>
        <p:spPr>
          <a:xfrm>
            <a:off x="8065008" y="3895344"/>
            <a:ext cx="32461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Microsoft YaHei"/>
              </a:rPr>
              <a:t>show access-lists — order and hit counts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Microsoft YaHei"/>
              </a:rPr>
              <a:t>No match means the packet is dropped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Microsoft YaHei"/>
              </a:rPr>
              <a:t>Place it on the interface facing the source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Microsoft YaHei"/>
              </a:rPr>
              <a:t>A new rule is added at the end of the list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Microsoft YaHei"/>
              </a:rPr>
              <a:t>Change the order, change the result</a:t>
            </a:r>
          </a:p>
        </p:txBody>
      </p:sp>
      <p:sp>
        <p:nvSpPr>
          <p:cNvPr id="35" name="TextBox 45"/>
          <p:cNvSpPr txBox="1"/>
          <p:nvPr/>
        </p:nvSpPr>
        <p:spPr>
          <a:xfrm>
            <a:off x="731520" y="5943600"/>
            <a:ext cx="107259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Microsoft YaHei"/>
              </a:rPr>
              <a:t>Order matters: a permit placed first would let the blocked host straight through.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6928" y="274320"/>
            <a:ext cx="502920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0D9488"/>
                </a:solidFill>
                <a:latin typeface="Microsoft YaHei"/>
              </a:defRPr>
            </a:pP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Class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76072"/>
            <a:ext cx="10972800" cy="48013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800" b="1" i="0">
                <a:solidFill>
                  <a:srgbClr val="102A43"/>
                </a:solidFill>
                <a:latin typeface="Microsoft YaHei"/>
              </a:defRPr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Mixed Practice: who should the next hop be?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66751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5840" y="1700784"/>
            <a:ext cx="5943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0D9488"/>
                </a:solidFill>
                <a:latin typeface="Microsoft YaHei"/>
              </a:defRPr>
            </a:pPr>
            <a:r>
              <a:rPr sz="10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682495"/>
            <a:ext cx="5623560" cy="60324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02A43"/>
                </a:solidFill>
                <a:latin typeface="Microsoft YaHei"/>
              </a:defRPr>
            </a:pP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PC-A talks to PC-B on the same subnet — whose MAC is resolved?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554480"/>
            <a:ext cx="3291840" cy="71323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46720" y="1719072"/>
            <a:ext cx="30175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102A43"/>
                </a:solidFill>
                <a:latin typeface="Microsoft YaHei"/>
              </a:defRPr>
            </a:pPr>
            <a:r>
              <a:rPr sz="13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PC-B's MAC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514600"/>
            <a:ext cx="66751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2660904"/>
            <a:ext cx="5943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0D9488"/>
                </a:solidFill>
                <a:latin typeface="Microsoft YaHei"/>
              </a:defRPr>
            </a:pPr>
            <a:r>
              <a:rPr sz="10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642616"/>
            <a:ext cx="5623560" cy="64940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02A43"/>
                </a:solidFill>
                <a:latin typeface="Microsoft YaHei"/>
              </a:defRPr>
            </a:pPr>
            <a:r>
              <a:rPr sz="17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PC-A talks to a remote PC-C — whose MAC is resolved?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2514600"/>
            <a:ext cx="3291840" cy="71323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46720" y="2679192"/>
            <a:ext cx="30175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102A43"/>
                </a:solidFill>
                <a:latin typeface="Microsoft YaHei"/>
              </a:defRPr>
            </a:pPr>
            <a:r>
              <a:rPr sz="13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The default gateway's MAC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474720"/>
            <a:ext cx="66751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05840" y="3621024"/>
            <a:ext cx="5943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0D9488"/>
                </a:solidFill>
                <a:latin typeface="Microsoft YaHei"/>
              </a:defRPr>
            </a:pPr>
            <a:r>
              <a:rPr sz="10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602736"/>
            <a:ext cx="5623560" cy="6340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02A43"/>
                </a:solidFill>
                <a:latin typeface="Microsoft YaHei"/>
              </a:defRPr>
            </a:pPr>
            <a:r>
              <a:rPr sz="17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When reaching PC-C, what is the destination IP of the packet?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474720"/>
            <a:ext cx="3291840" cy="71323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46720" y="3639312"/>
            <a:ext cx="30175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102A43"/>
                </a:solidFill>
                <a:latin typeface="Microsoft YaHei"/>
              </a:defRPr>
            </a:pPr>
            <a:r>
              <a:rPr sz="13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PC-C's 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434840"/>
            <a:ext cx="66751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05840" y="4581144"/>
            <a:ext cx="5943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0D9488"/>
                </a:solidFill>
                <a:latin typeface="Microsoft YaHei"/>
              </a:defRPr>
            </a:pPr>
            <a:r>
              <a:rPr sz="105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Q4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562856"/>
            <a:ext cx="5623560" cy="5724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102A43"/>
                </a:solidFill>
                <a:latin typeface="Microsoft YaHei"/>
              </a:defRPr>
            </a:pPr>
            <a:r>
              <a:rPr sz="15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After a packet passes one router, how does the TTL normally change?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09560" y="4434840"/>
            <a:ext cx="3291840" cy="713232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46720" y="4599432"/>
            <a:ext cx="30175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102A43"/>
                </a:solidFill>
                <a:latin typeface="Microsoft YaHei"/>
              </a:defRPr>
            </a:pPr>
            <a:r>
              <a:rPr sz="13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Decremented by 1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2CC0240-20EB-BED1-BDCD-AC28C9AAF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66928"/>
            <a:ext cx="566928" cy="635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749808"/>
            <a:ext cx="960120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dirty="0">
                <a:solidFill>
                  <a:srgbClr val="143C6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Class Summary</a:t>
            </a:r>
            <a:endParaRPr sz="3200" b="1" dirty="0">
              <a:solidFill>
                <a:srgbClr val="143C6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1249172"/>
            <a:ext cx="10725912" cy="12700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AADEF157-7C2B-14BB-C69B-B5B7059B7BC3}"/>
              </a:ext>
            </a:extLst>
          </p:cNvPr>
          <p:cNvSpPr/>
          <p:nvPr/>
        </p:nvSpPr>
        <p:spPr>
          <a:xfrm>
            <a:off x="914400" y="1508760"/>
            <a:ext cx="102412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332571F3-EC3A-DC26-9830-8D510E3891B5}"/>
              </a:ext>
            </a:extLst>
          </p:cNvPr>
          <p:cNvSpPr/>
          <p:nvPr/>
        </p:nvSpPr>
        <p:spPr>
          <a:xfrm>
            <a:off x="1051560" y="1591056"/>
            <a:ext cx="438912" cy="42062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61A4DFB8-0247-1B23-09B1-5C6C1161180B}"/>
              </a:ext>
            </a:extLst>
          </p:cNvPr>
          <p:cNvSpPr txBox="1"/>
          <p:nvPr/>
        </p:nvSpPr>
        <p:spPr>
          <a:xfrm>
            <a:off x="1078992" y="1673351"/>
            <a:ext cx="384048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102A43"/>
                </a:solidFill>
                <a:latin typeface="Microsoft YaHei"/>
              </a:defRPr>
            </a:pPr>
            <a:r>
              <a:rPr sz="9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1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40556B26-C0FB-0FCB-BA70-5EFD72F6DAAA}"/>
              </a:ext>
            </a:extLst>
          </p:cNvPr>
          <p:cNvSpPr txBox="1"/>
          <p:nvPr/>
        </p:nvSpPr>
        <p:spPr>
          <a:xfrm>
            <a:off x="1737360" y="1627631"/>
            <a:ext cx="4098844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600" b="1" i="0">
                <a:solidFill>
                  <a:srgbClr val="102A43"/>
                </a:solidFill>
                <a:latin typeface="Microsoft YaHei"/>
              </a:defRPr>
            </a:pP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Determine the destination network</a:t>
            </a: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BE41B5FE-4F4F-363D-EAC3-63362F9321FD}"/>
              </a:ext>
            </a:extLst>
          </p:cNvPr>
          <p:cNvSpPr txBox="1"/>
          <p:nvPr/>
        </p:nvSpPr>
        <p:spPr>
          <a:xfrm>
            <a:off x="6253514" y="1669984"/>
            <a:ext cx="322372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475569"/>
                </a:solidFill>
                <a:latin typeface="Microsoft YaHei"/>
              </a:defRPr>
            </a:pP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IP + subnet mask</a:t>
            </a:r>
          </a:p>
        </p:txBody>
      </p:sp>
      <p:sp>
        <p:nvSpPr>
          <p:cNvPr id="20" name="Rounded Rectangle 12">
            <a:extLst>
              <a:ext uri="{FF2B5EF4-FFF2-40B4-BE49-F238E27FC236}">
                <a16:creationId xmlns:a16="http://schemas.microsoft.com/office/drawing/2014/main" id="{B05EDCCB-40F1-18DA-5A73-BC2C1E4DE3F8}"/>
              </a:ext>
            </a:extLst>
          </p:cNvPr>
          <p:cNvSpPr/>
          <p:nvPr/>
        </p:nvSpPr>
        <p:spPr>
          <a:xfrm>
            <a:off x="914400" y="2313432"/>
            <a:ext cx="102412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2" name="Rounded Rectangle 13">
            <a:extLst>
              <a:ext uri="{FF2B5EF4-FFF2-40B4-BE49-F238E27FC236}">
                <a16:creationId xmlns:a16="http://schemas.microsoft.com/office/drawing/2014/main" id="{66A9158F-645A-C0C2-0AEA-B78A5A9D03C4}"/>
              </a:ext>
            </a:extLst>
          </p:cNvPr>
          <p:cNvSpPr/>
          <p:nvPr/>
        </p:nvSpPr>
        <p:spPr>
          <a:xfrm>
            <a:off x="1051560" y="2395727"/>
            <a:ext cx="438912" cy="420624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DBCCF923-70F4-5262-2A3D-70D4527C2A10}"/>
              </a:ext>
            </a:extLst>
          </p:cNvPr>
          <p:cNvSpPr txBox="1"/>
          <p:nvPr/>
        </p:nvSpPr>
        <p:spPr>
          <a:xfrm>
            <a:off x="1078992" y="2478024"/>
            <a:ext cx="384048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102A43"/>
                </a:solidFill>
                <a:latin typeface="Microsoft YaHei"/>
              </a:defRPr>
            </a:pPr>
            <a:r>
              <a:rPr sz="9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2</a:t>
            </a:r>
          </a:p>
        </p:txBody>
      </p:sp>
      <p:sp>
        <p:nvSpPr>
          <p:cNvPr id="26" name="TextBox 15">
            <a:extLst>
              <a:ext uri="{FF2B5EF4-FFF2-40B4-BE49-F238E27FC236}">
                <a16:creationId xmlns:a16="http://schemas.microsoft.com/office/drawing/2014/main" id="{E3710893-5718-BDFA-BFE9-21E163677C18}"/>
              </a:ext>
            </a:extLst>
          </p:cNvPr>
          <p:cNvSpPr txBox="1"/>
          <p:nvPr/>
        </p:nvSpPr>
        <p:spPr>
          <a:xfrm>
            <a:off x="1737360" y="2432303"/>
            <a:ext cx="292608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600" b="1" i="0">
                <a:solidFill>
                  <a:srgbClr val="102A43"/>
                </a:solidFill>
                <a:latin typeface="Microsoft YaHei"/>
              </a:defRPr>
            </a:pPr>
            <a:r>
              <a:rPr sz="1600" b="1" dirty="0">
                <a:solidFill>
                  <a:srgbClr val="10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Determine the next hop</a:t>
            </a:r>
          </a:p>
        </p:txBody>
      </p:sp>
      <p:sp>
        <p:nvSpPr>
          <p:cNvPr id="28" name="TextBox 16">
            <a:extLst>
              <a:ext uri="{FF2B5EF4-FFF2-40B4-BE49-F238E27FC236}">
                <a16:creationId xmlns:a16="http://schemas.microsoft.com/office/drawing/2014/main" id="{971F3581-4C62-2409-4F9E-D53E11255479}"/>
              </a:ext>
            </a:extLst>
          </p:cNvPr>
          <p:cNvSpPr txBox="1"/>
          <p:nvPr/>
        </p:nvSpPr>
        <p:spPr>
          <a:xfrm>
            <a:off x="6253514" y="2471291"/>
            <a:ext cx="322372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0" i="0">
                <a:solidFill>
                  <a:srgbClr val="475569"/>
                </a:solidFill>
                <a:latin typeface="Microsoft YaHei"/>
              </a:defRPr>
            </a:pPr>
            <a:r>
              <a:rPr sz="14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Destination host or default gateway</a:t>
            </a:r>
          </a:p>
        </p:txBody>
      </p:sp>
      <p:sp>
        <p:nvSpPr>
          <p:cNvPr id="30" name="Rounded Rectangle 17">
            <a:extLst>
              <a:ext uri="{FF2B5EF4-FFF2-40B4-BE49-F238E27FC236}">
                <a16:creationId xmlns:a16="http://schemas.microsoft.com/office/drawing/2014/main" id="{CEEB1A0D-0DBF-4BB0-3E24-66C96F56F604}"/>
              </a:ext>
            </a:extLst>
          </p:cNvPr>
          <p:cNvSpPr/>
          <p:nvPr/>
        </p:nvSpPr>
        <p:spPr>
          <a:xfrm>
            <a:off x="914400" y="3118104"/>
            <a:ext cx="102412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2" name="Rounded Rectangle 18">
            <a:extLst>
              <a:ext uri="{FF2B5EF4-FFF2-40B4-BE49-F238E27FC236}">
                <a16:creationId xmlns:a16="http://schemas.microsoft.com/office/drawing/2014/main" id="{D5B641B6-F2A1-C578-F039-DD9D87CE2D49}"/>
              </a:ext>
            </a:extLst>
          </p:cNvPr>
          <p:cNvSpPr/>
          <p:nvPr/>
        </p:nvSpPr>
        <p:spPr>
          <a:xfrm>
            <a:off x="1051560" y="3200400"/>
            <a:ext cx="438912" cy="420624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34" name="TextBox 19">
            <a:extLst>
              <a:ext uri="{FF2B5EF4-FFF2-40B4-BE49-F238E27FC236}">
                <a16:creationId xmlns:a16="http://schemas.microsoft.com/office/drawing/2014/main" id="{5C1F5626-66E8-1C67-743A-740CAF608AD6}"/>
              </a:ext>
            </a:extLst>
          </p:cNvPr>
          <p:cNvSpPr txBox="1"/>
          <p:nvPr/>
        </p:nvSpPr>
        <p:spPr>
          <a:xfrm>
            <a:off x="1078992" y="3282696"/>
            <a:ext cx="384048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102A43"/>
                </a:solidFill>
                <a:latin typeface="Microsoft YaHei"/>
              </a:defRPr>
            </a:pPr>
            <a:r>
              <a:rPr sz="9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3</a:t>
            </a:r>
          </a:p>
        </p:txBody>
      </p:sp>
      <p:sp>
        <p:nvSpPr>
          <p:cNvPr id="36" name="TextBox 20">
            <a:extLst>
              <a:ext uri="{FF2B5EF4-FFF2-40B4-BE49-F238E27FC236}">
                <a16:creationId xmlns:a16="http://schemas.microsoft.com/office/drawing/2014/main" id="{405EBDAF-17F4-C893-81B4-B5029DF12C5B}"/>
              </a:ext>
            </a:extLst>
          </p:cNvPr>
          <p:cNvSpPr txBox="1"/>
          <p:nvPr/>
        </p:nvSpPr>
        <p:spPr>
          <a:xfrm>
            <a:off x="1737360" y="3236976"/>
            <a:ext cx="292608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600" b="1" i="0">
                <a:solidFill>
                  <a:srgbClr val="102A43"/>
                </a:solidFill>
                <a:latin typeface="Microsoft YaHei"/>
              </a:defRPr>
            </a:pPr>
            <a:r>
              <a:rPr sz="1600" b="1" dirty="0">
                <a:solidFill>
                  <a:srgbClr val="10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Resolve the next-hop MAC</a:t>
            </a:r>
          </a:p>
        </p:txBody>
      </p:sp>
      <p:sp>
        <p:nvSpPr>
          <p:cNvPr id="38" name="TextBox 21">
            <a:extLst>
              <a:ext uri="{FF2B5EF4-FFF2-40B4-BE49-F238E27FC236}">
                <a16:creationId xmlns:a16="http://schemas.microsoft.com/office/drawing/2014/main" id="{93102C9E-8E24-1F10-2C2D-C3702BFFB788}"/>
              </a:ext>
            </a:extLst>
          </p:cNvPr>
          <p:cNvSpPr txBox="1"/>
          <p:nvPr/>
        </p:nvSpPr>
        <p:spPr>
          <a:xfrm>
            <a:off x="6253514" y="3236976"/>
            <a:ext cx="580644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0" i="0">
                <a:solidFill>
                  <a:srgbClr val="475569"/>
                </a:solidFill>
                <a:latin typeface="Microsoft YaHei"/>
              </a:defRPr>
            </a:pPr>
            <a:r>
              <a:rPr sz="14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Use ARP when needed</a:t>
            </a:r>
          </a:p>
        </p:txBody>
      </p:sp>
      <p:sp>
        <p:nvSpPr>
          <p:cNvPr id="40" name="Rounded Rectangle 22">
            <a:extLst>
              <a:ext uri="{FF2B5EF4-FFF2-40B4-BE49-F238E27FC236}">
                <a16:creationId xmlns:a16="http://schemas.microsoft.com/office/drawing/2014/main" id="{654DDC76-8FC2-FBE2-B45C-5FC9EB2167CF}"/>
              </a:ext>
            </a:extLst>
          </p:cNvPr>
          <p:cNvSpPr/>
          <p:nvPr/>
        </p:nvSpPr>
        <p:spPr>
          <a:xfrm>
            <a:off x="914400" y="3922776"/>
            <a:ext cx="102412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42" name="Rounded Rectangle 23">
            <a:extLst>
              <a:ext uri="{FF2B5EF4-FFF2-40B4-BE49-F238E27FC236}">
                <a16:creationId xmlns:a16="http://schemas.microsoft.com/office/drawing/2014/main" id="{4A2157B4-6748-896E-D469-F07DD103BA0F}"/>
              </a:ext>
            </a:extLst>
          </p:cNvPr>
          <p:cNvSpPr/>
          <p:nvPr/>
        </p:nvSpPr>
        <p:spPr>
          <a:xfrm>
            <a:off x="1051560" y="4005072"/>
            <a:ext cx="438912" cy="420624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44" name="TextBox 24">
            <a:extLst>
              <a:ext uri="{FF2B5EF4-FFF2-40B4-BE49-F238E27FC236}">
                <a16:creationId xmlns:a16="http://schemas.microsoft.com/office/drawing/2014/main" id="{90ED220B-A532-5F99-26A6-983C5060AC4E}"/>
              </a:ext>
            </a:extLst>
          </p:cNvPr>
          <p:cNvSpPr txBox="1"/>
          <p:nvPr/>
        </p:nvSpPr>
        <p:spPr>
          <a:xfrm>
            <a:off x="1078992" y="4087368"/>
            <a:ext cx="384048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102A43"/>
                </a:solidFill>
                <a:latin typeface="Microsoft YaHei"/>
              </a:defRPr>
            </a:pPr>
            <a:r>
              <a:rPr sz="9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4</a:t>
            </a:r>
          </a:p>
        </p:txBody>
      </p:sp>
      <p:sp>
        <p:nvSpPr>
          <p:cNvPr id="46" name="TextBox 25">
            <a:extLst>
              <a:ext uri="{FF2B5EF4-FFF2-40B4-BE49-F238E27FC236}">
                <a16:creationId xmlns:a16="http://schemas.microsoft.com/office/drawing/2014/main" id="{0FC16459-2A06-0CDB-32FE-519A3075CFCD}"/>
              </a:ext>
            </a:extLst>
          </p:cNvPr>
          <p:cNvSpPr txBox="1"/>
          <p:nvPr/>
        </p:nvSpPr>
        <p:spPr>
          <a:xfrm>
            <a:off x="1737360" y="4041648"/>
            <a:ext cx="2926080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600" b="1" i="0">
                <a:solidFill>
                  <a:srgbClr val="102A43"/>
                </a:solidFill>
                <a:latin typeface="Microsoft YaHei"/>
              </a:defRPr>
            </a:pPr>
            <a:r>
              <a:rPr sz="1600" b="1" dirty="0">
                <a:solidFill>
                  <a:srgbClr val="10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Consult the routing table</a:t>
            </a:r>
          </a:p>
        </p:txBody>
      </p:sp>
      <p:sp>
        <p:nvSpPr>
          <p:cNvPr id="48" name="TextBox 26">
            <a:extLst>
              <a:ext uri="{FF2B5EF4-FFF2-40B4-BE49-F238E27FC236}">
                <a16:creationId xmlns:a16="http://schemas.microsoft.com/office/drawing/2014/main" id="{DBFB01D5-952E-85D5-F38A-1F35FC5F9DCC}"/>
              </a:ext>
            </a:extLst>
          </p:cNvPr>
          <p:cNvSpPr txBox="1"/>
          <p:nvPr/>
        </p:nvSpPr>
        <p:spPr>
          <a:xfrm>
            <a:off x="6253514" y="4091940"/>
            <a:ext cx="580644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0" i="0">
                <a:solidFill>
                  <a:srgbClr val="475569"/>
                </a:solidFill>
                <a:latin typeface="Microsoft YaHei"/>
              </a:defRPr>
            </a:pPr>
            <a:r>
              <a:rPr sz="14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Choose the next hop and exit interface</a:t>
            </a:r>
          </a:p>
        </p:txBody>
      </p:sp>
      <p:sp>
        <p:nvSpPr>
          <p:cNvPr id="50" name="Rounded Rectangle 27">
            <a:extLst>
              <a:ext uri="{FF2B5EF4-FFF2-40B4-BE49-F238E27FC236}">
                <a16:creationId xmlns:a16="http://schemas.microsoft.com/office/drawing/2014/main" id="{F3E56692-7C64-C6DF-BD8B-BA27D3B2A9EC}"/>
              </a:ext>
            </a:extLst>
          </p:cNvPr>
          <p:cNvSpPr/>
          <p:nvPr/>
        </p:nvSpPr>
        <p:spPr>
          <a:xfrm>
            <a:off x="914400" y="4750559"/>
            <a:ext cx="102412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52" name="Rounded Rectangle 28">
            <a:extLst>
              <a:ext uri="{FF2B5EF4-FFF2-40B4-BE49-F238E27FC236}">
                <a16:creationId xmlns:a16="http://schemas.microsoft.com/office/drawing/2014/main" id="{EBDBBC51-3898-5C1D-908B-2D8087DAB355}"/>
              </a:ext>
            </a:extLst>
          </p:cNvPr>
          <p:cNvSpPr/>
          <p:nvPr/>
        </p:nvSpPr>
        <p:spPr>
          <a:xfrm>
            <a:off x="1051560" y="4809744"/>
            <a:ext cx="438912" cy="420624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FF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软雅黑" panose="020B0503020204020204" pitchFamily="34" charset="-122"/>
            </a:endParaRPr>
          </a:p>
        </p:txBody>
      </p:sp>
      <p:sp>
        <p:nvSpPr>
          <p:cNvPr id="54" name="TextBox 29">
            <a:extLst>
              <a:ext uri="{FF2B5EF4-FFF2-40B4-BE49-F238E27FC236}">
                <a16:creationId xmlns:a16="http://schemas.microsoft.com/office/drawing/2014/main" id="{D43188BC-F2A4-4586-5A27-3C7780B1D8FB}"/>
              </a:ext>
            </a:extLst>
          </p:cNvPr>
          <p:cNvSpPr txBox="1"/>
          <p:nvPr/>
        </p:nvSpPr>
        <p:spPr>
          <a:xfrm>
            <a:off x="1078992" y="4892040"/>
            <a:ext cx="384048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102A43"/>
                </a:solidFill>
                <a:latin typeface="Microsoft YaHei"/>
              </a:defRPr>
            </a:pPr>
            <a:r>
              <a:rPr sz="900" dirty="0"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5</a:t>
            </a:r>
          </a:p>
        </p:txBody>
      </p:sp>
      <p:sp>
        <p:nvSpPr>
          <p:cNvPr id="56" name="TextBox 30">
            <a:extLst>
              <a:ext uri="{FF2B5EF4-FFF2-40B4-BE49-F238E27FC236}">
                <a16:creationId xmlns:a16="http://schemas.microsoft.com/office/drawing/2014/main" id="{BD667336-AE37-6087-93A7-C8619F74534F}"/>
              </a:ext>
            </a:extLst>
          </p:cNvPr>
          <p:cNvSpPr txBox="1"/>
          <p:nvPr/>
        </p:nvSpPr>
        <p:spPr>
          <a:xfrm>
            <a:off x="1737359" y="4846320"/>
            <a:ext cx="3393099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600" b="1" i="0">
                <a:solidFill>
                  <a:srgbClr val="102A43"/>
                </a:solidFill>
                <a:latin typeface="Microsoft YaHei"/>
              </a:defRPr>
            </a:pPr>
            <a:r>
              <a:rPr sz="1600" b="1" dirty="0">
                <a:solidFill>
                  <a:srgbClr val="102A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Re-encapsulate and forward</a:t>
            </a:r>
          </a:p>
        </p:txBody>
      </p:sp>
      <p:sp>
        <p:nvSpPr>
          <p:cNvPr id="58" name="TextBox 31">
            <a:extLst>
              <a:ext uri="{FF2B5EF4-FFF2-40B4-BE49-F238E27FC236}">
                <a16:creationId xmlns:a16="http://schemas.microsoft.com/office/drawing/2014/main" id="{94870C72-192B-48BA-FC67-BF8ADD5E341D}"/>
              </a:ext>
            </a:extLst>
          </p:cNvPr>
          <p:cNvSpPr txBox="1"/>
          <p:nvPr/>
        </p:nvSpPr>
        <p:spPr>
          <a:xfrm>
            <a:off x="6253514" y="4919723"/>
            <a:ext cx="580644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500"/>
              </a:spcAft>
              <a:defRPr sz="1400" b="0" i="0">
                <a:solidFill>
                  <a:srgbClr val="475569"/>
                </a:solidFill>
                <a:latin typeface="Microsoft YaHei"/>
              </a:defRPr>
            </a:pPr>
            <a:r>
              <a:rPr sz="14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 changes, TTL normally decreases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EDED2B-8204-2C44-91AE-3C58FF4E2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</TotalTime>
  <Words>5733</Words>
  <Application>Microsoft Office PowerPoint</Application>
  <PresentationFormat>宽屏</PresentationFormat>
  <Paragraphs>432</Paragraphs>
  <Slides>31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5" baseType="lpstr">
      <vt:lpstr>Microsoft YaHei</vt:lpstr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zihan huang</dc:creator>
  <cp:keywords/>
  <dc:description>generated using python-pptx</dc:description>
  <cp:lastModifiedBy>zihan huang</cp:lastModifiedBy>
  <cp:revision>11</cp:revision>
  <dcterms:created xsi:type="dcterms:W3CDTF">2013-01-27T09:14:16Z</dcterms:created>
  <dcterms:modified xsi:type="dcterms:W3CDTF">2026-10-19T14:21:51Z</dcterms:modified>
  <cp:category/>
</cp:coreProperties>
</file>